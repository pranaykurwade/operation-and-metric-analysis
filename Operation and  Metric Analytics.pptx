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x="18288000" cy="10287000"/>
  <p:notesSz cx="6858000" cy="9144000"/>
  <p:embeddedFontLst>
    <p:embeddedFont>
      <p:font typeface="Times New Roman Bold" charset="1" panose="02030802070405020303"/>
      <p:regular r:id="rId22"/>
    </p:embeddedFont>
    <p:embeddedFont>
      <p:font typeface="Times New Roman" charset="1" panose="02030502070405020303"/>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fonts/font22.fntdata" Type="http://schemas.openxmlformats.org/officeDocument/2006/relationships/font"/><Relationship Id="rId23" Target="fonts/font23.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6097502" y="5590237"/>
            <a:ext cx="14099416" cy="14099416"/>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6420234" y="-1717598"/>
            <a:ext cx="3735531" cy="373553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747857" y="-643475"/>
            <a:ext cx="1286950" cy="1286950"/>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solidFill>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1929195" y="8389571"/>
            <a:ext cx="3735531" cy="3735531"/>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4" id="14"/>
          <p:cNvSpPr/>
          <p:nvPr/>
        </p:nvSpPr>
        <p:spPr>
          <a:xfrm flipH="false" flipV="false" rot="0">
            <a:off x="8757394" y="7522582"/>
            <a:ext cx="8779632" cy="1733977"/>
          </a:xfrm>
          <a:custGeom>
            <a:avLst/>
            <a:gdLst/>
            <a:ahLst/>
            <a:cxnLst/>
            <a:rect r="r" b="b" t="t" l="l"/>
            <a:pathLst>
              <a:path h="1733977" w="8779632">
                <a:moveTo>
                  <a:pt x="0" y="0"/>
                </a:moveTo>
                <a:lnTo>
                  <a:pt x="8779632" y="0"/>
                </a:lnTo>
                <a:lnTo>
                  <a:pt x="8779632" y="1733977"/>
                </a:lnTo>
                <a:lnTo>
                  <a:pt x="0" y="1733977"/>
                </a:lnTo>
                <a:lnTo>
                  <a:pt x="0" y="0"/>
                </a:lnTo>
                <a:close/>
              </a:path>
            </a:pathLst>
          </a:custGeom>
          <a:blipFill>
            <a:blip r:embed="rId2"/>
            <a:stretch>
              <a:fillRect l="0" t="0" r="0" b="0"/>
            </a:stretch>
          </a:blipFill>
        </p:spPr>
      </p:sp>
      <p:sp>
        <p:nvSpPr>
          <p:cNvPr name="Freeform 15" id="15"/>
          <p:cNvSpPr/>
          <p:nvPr/>
        </p:nvSpPr>
        <p:spPr>
          <a:xfrm flipH="false" flipV="false" rot="0">
            <a:off x="9385338" y="3143201"/>
            <a:ext cx="7681955" cy="4321099"/>
          </a:xfrm>
          <a:custGeom>
            <a:avLst/>
            <a:gdLst/>
            <a:ahLst/>
            <a:cxnLst/>
            <a:rect r="r" b="b" t="t" l="l"/>
            <a:pathLst>
              <a:path h="4321099" w="7681955">
                <a:moveTo>
                  <a:pt x="0" y="0"/>
                </a:moveTo>
                <a:lnTo>
                  <a:pt x="7681954" y="0"/>
                </a:lnTo>
                <a:lnTo>
                  <a:pt x="7681954" y="4321099"/>
                </a:lnTo>
                <a:lnTo>
                  <a:pt x="0" y="4321099"/>
                </a:lnTo>
                <a:lnTo>
                  <a:pt x="0" y="0"/>
                </a:lnTo>
                <a:close/>
              </a:path>
            </a:pathLst>
          </a:custGeom>
          <a:blipFill>
            <a:blip r:embed="rId3"/>
            <a:stretch>
              <a:fillRect l="0" t="0" r="0" b="0"/>
            </a:stretch>
          </a:blipFill>
        </p:spPr>
      </p:sp>
      <p:sp>
        <p:nvSpPr>
          <p:cNvPr name="TextBox 16" id="16"/>
          <p:cNvSpPr txBox="true"/>
          <p:nvPr/>
        </p:nvSpPr>
        <p:spPr>
          <a:xfrm rot="0">
            <a:off x="1391331" y="2866976"/>
            <a:ext cx="8015383" cy="2574925"/>
          </a:xfrm>
          <a:prstGeom prst="rect">
            <a:avLst/>
          </a:prstGeom>
        </p:spPr>
        <p:txBody>
          <a:bodyPr anchor="t" rtlCol="false" tIns="0" lIns="0" bIns="0" rIns="0">
            <a:spAutoFit/>
          </a:bodyPr>
          <a:lstStyle/>
          <a:p>
            <a:pPr algn="l">
              <a:lnSpc>
                <a:spcPts val="9800"/>
              </a:lnSpc>
              <a:spcBef>
                <a:spcPct val="0"/>
              </a:spcBef>
            </a:pPr>
            <a:r>
              <a:rPr lang="en-US" sz="7000">
                <a:solidFill>
                  <a:srgbClr val="051D40"/>
                </a:solidFill>
                <a:latin typeface="Times New Roman Bold"/>
                <a:ea typeface="Times New Roman Bold"/>
                <a:cs typeface="Times New Roman Bold"/>
                <a:sym typeface="Times New Roman Bold"/>
              </a:rPr>
              <a:t>Operation and  Metric Analytics</a:t>
            </a:r>
          </a:p>
        </p:txBody>
      </p:sp>
      <p:sp>
        <p:nvSpPr>
          <p:cNvPr name="TextBox 17" id="17"/>
          <p:cNvSpPr txBox="true"/>
          <p:nvPr/>
        </p:nvSpPr>
        <p:spPr>
          <a:xfrm rot="0">
            <a:off x="1391331" y="5566162"/>
            <a:ext cx="7366063" cy="530094"/>
          </a:xfrm>
          <a:prstGeom prst="rect">
            <a:avLst/>
          </a:prstGeom>
        </p:spPr>
        <p:txBody>
          <a:bodyPr anchor="t" rtlCol="false" tIns="0" lIns="0" bIns="0" rIns="0">
            <a:spAutoFit/>
          </a:bodyPr>
          <a:lstStyle/>
          <a:p>
            <a:pPr algn="l">
              <a:lnSpc>
                <a:spcPts val="3855"/>
              </a:lnSpc>
              <a:spcBef>
                <a:spcPct val="0"/>
              </a:spcBef>
            </a:pPr>
            <a:r>
              <a:rPr lang="en-US" sz="2753" spc="-55">
                <a:solidFill>
                  <a:srgbClr val="051D40"/>
                </a:solidFill>
                <a:latin typeface="Times New Roman Bold"/>
                <a:ea typeface="Times New Roman Bold"/>
                <a:cs typeface="Times New Roman Bold"/>
                <a:sym typeface="Times New Roman Bold"/>
              </a:rPr>
              <a:t>SQL Project - Data Analytics</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6656283" y="-2445901"/>
            <a:ext cx="15178802" cy="15178802"/>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38100" cap="sq">
              <a:solidFill>
                <a:srgbClr val="145DA0"/>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6379385" y="-1797460"/>
            <a:ext cx="13881919" cy="13881919"/>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8" id="8"/>
          <p:cNvSpPr txBox="true"/>
          <p:nvPr/>
        </p:nvSpPr>
        <p:spPr>
          <a:xfrm rot="0">
            <a:off x="933118" y="4465258"/>
            <a:ext cx="6486181" cy="890681"/>
          </a:xfrm>
          <a:prstGeom prst="rect">
            <a:avLst/>
          </a:prstGeom>
        </p:spPr>
        <p:txBody>
          <a:bodyPr anchor="t" rtlCol="false" tIns="0" lIns="0" bIns="0" rIns="0">
            <a:spAutoFit/>
          </a:bodyPr>
          <a:lstStyle/>
          <a:p>
            <a:pPr algn="l" marL="0" indent="0" lvl="0">
              <a:lnSpc>
                <a:spcPts val="6553"/>
              </a:lnSpc>
              <a:spcBef>
                <a:spcPct val="0"/>
              </a:spcBef>
            </a:pPr>
            <a:r>
              <a:rPr lang="en-US" sz="4680">
                <a:solidFill>
                  <a:srgbClr val="FDFDFD"/>
                </a:solidFill>
                <a:latin typeface="Times New Roman Bold"/>
                <a:ea typeface="Times New Roman Bold"/>
                <a:cs typeface="Times New Roman Bold"/>
                <a:sym typeface="Times New Roman Bold"/>
              </a:rPr>
              <a:t>Problem Description:</a:t>
            </a:r>
          </a:p>
        </p:txBody>
      </p:sp>
      <p:grpSp>
        <p:nvGrpSpPr>
          <p:cNvPr name="Group 9" id="9"/>
          <p:cNvGrpSpPr/>
          <p:nvPr/>
        </p:nvGrpSpPr>
        <p:grpSpPr>
          <a:xfrm rot="0">
            <a:off x="7905455" y="2656032"/>
            <a:ext cx="373607" cy="373607"/>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38100" cap="sq">
              <a:solidFill>
                <a:srgbClr val="00569E"/>
              </a:solidFill>
              <a:prstDash val="solid"/>
              <a:miter/>
            </a:ln>
          </p:spPr>
        </p:sp>
        <p:sp>
          <p:nvSpPr>
            <p:cNvPr name="TextBox 11" id="11"/>
            <p:cNvSpPr txBox="true"/>
            <p:nvPr/>
          </p:nvSpPr>
          <p:spPr>
            <a:xfrm>
              <a:off x="76200" y="28575"/>
              <a:ext cx="660400" cy="708025"/>
            </a:xfrm>
            <a:prstGeom prst="rect">
              <a:avLst/>
            </a:prstGeom>
          </p:spPr>
          <p:txBody>
            <a:bodyPr anchor="ctr" rtlCol="false" tIns="0" lIns="0" bIns="0" rIns="0"/>
            <a:lstStyle/>
            <a:p>
              <a:pPr algn="ctr">
                <a:lnSpc>
                  <a:spcPts val="3640"/>
                </a:lnSpc>
              </a:pPr>
            </a:p>
          </p:txBody>
        </p:sp>
      </p:grpSp>
      <p:grpSp>
        <p:nvGrpSpPr>
          <p:cNvPr name="Group 12" id="12"/>
          <p:cNvGrpSpPr/>
          <p:nvPr/>
        </p:nvGrpSpPr>
        <p:grpSpPr>
          <a:xfrm rot="0">
            <a:off x="8315313" y="4180490"/>
            <a:ext cx="373607" cy="373607"/>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38100" cap="sq">
              <a:solidFill>
                <a:srgbClr val="00569E"/>
              </a:solidFill>
              <a:prstDash val="solid"/>
              <a:miter/>
            </a:ln>
          </p:spPr>
        </p:sp>
        <p:sp>
          <p:nvSpPr>
            <p:cNvPr name="TextBox 14" id="14"/>
            <p:cNvSpPr txBox="true"/>
            <p:nvPr/>
          </p:nvSpPr>
          <p:spPr>
            <a:xfrm>
              <a:off x="76200" y="28575"/>
              <a:ext cx="660400" cy="708025"/>
            </a:xfrm>
            <a:prstGeom prst="rect">
              <a:avLst/>
            </a:prstGeom>
          </p:spPr>
          <p:txBody>
            <a:bodyPr anchor="ctr" rtlCol="false" tIns="0" lIns="0" bIns="0" rIns="0"/>
            <a:lstStyle/>
            <a:p>
              <a:pPr algn="ctr">
                <a:lnSpc>
                  <a:spcPts val="3640"/>
                </a:lnSpc>
              </a:pPr>
            </a:p>
          </p:txBody>
        </p:sp>
      </p:grpSp>
      <p:grpSp>
        <p:nvGrpSpPr>
          <p:cNvPr name="Group 15" id="15"/>
          <p:cNvGrpSpPr/>
          <p:nvPr/>
        </p:nvGrpSpPr>
        <p:grpSpPr>
          <a:xfrm rot="0">
            <a:off x="7944228" y="7402839"/>
            <a:ext cx="373607" cy="373607"/>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38100" cap="sq">
              <a:solidFill>
                <a:srgbClr val="00569E"/>
              </a:solidFill>
              <a:prstDash val="solid"/>
              <a:miter/>
            </a:ln>
          </p:spPr>
        </p:sp>
        <p:sp>
          <p:nvSpPr>
            <p:cNvPr name="TextBox 17" id="17"/>
            <p:cNvSpPr txBox="true"/>
            <p:nvPr/>
          </p:nvSpPr>
          <p:spPr>
            <a:xfrm>
              <a:off x="76200" y="28575"/>
              <a:ext cx="660400" cy="708025"/>
            </a:xfrm>
            <a:prstGeom prst="rect">
              <a:avLst/>
            </a:prstGeom>
          </p:spPr>
          <p:txBody>
            <a:bodyPr anchor="ctr" rtlCol="false" tIns="0" lIns="0" bIns="0" rIns="0"/>
            <a:lstStyle/>
            <a:p>
              <a:pPr algn="ctr">
                <a:lnSpc>
                  <a:spcPts val="3640"/>
                </a:lnSpc>
              </a:pPr>
            </a:p>
          </p:txBody>
        </p:sp>
      </p:grpSp>
      <p:grpSp>
        <p:nvGrpSpPr>
          <p:cNvPr name="Group 18" id="18"/>
          <p:cNvGrpSpPr/>
          <p:nvPr/>
        </p:nvGrpSpPr>
        <p:grpSpPr>
          <a:xfrm rot="0">
            <a:off x="8309460" y="5760481"/>
            <a:ext cx="373607" cy="373607"/>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38100" cap="sq">
              <a:solidFill>
                <a:srgbClr val="00569E"/>
              </a:solidFill>
              <a:prstDash val="solid"/>
              <a:miter/>
            </a:ln>
          </p:spPr>
        </p:sp>
        <p:sp>
          <p:nvSpPr>
            <p:cNvPr name="TextBox 20" id="20"/>
            <p:cNvSpPr txBox="true"/>
            <p:nvPr/>
          </p:nvSpPr>
          <p:spPr>
            <a:xfrm>
              <a:off x="76200" y="28575"/>
              <a:ext cx="660400" cy="708025"/>
            </a:xfrm>
            <a:prstGeom prst="rect">
              <a:avLst/>
            </a:prstGeom>
          </p:spPr>
          <p:txBody>
            <a:bodyPr anchor="ctr" rtlCol="false" tIns="0" lIns="0" bIns="0" rIns="0"/>
            <a:lstStyle/>
            <a:p>
              <a:pPr algn="ctr">
                <a:lnSpc>
                  <a:spcPts val="3640"/>
                </a:lnSpc>
              </a:pPr>
            </a:p>
          </p:txBody>
        </p:sp>
      </p:grpSp>
      <p:sp>
        <p:nvSpPr>
          <p:cNvPr name="TextBox 21" id="21"/>
          <p:cNvSpPr txBox="true"/>
          <p:nvPr/>
        </p:nvSpPr>
        <p:spPr>
          <a:xfrm rot="0">
            <a:off x="9584270" y="3327549"/>
            <a:ext cx="7380205" cy="3536652"/>
          </a:xfrm>
          <a:prstGeom prst="rect">
            <a:avLst/>
          </a:prstGeom>
        </p:spPr>
        <p:txBody>
          <a:bodyPr anchor="t" rtlCol="false" tIns="0" lIns="0" bIns="0" rIns="0">
            <a:spAutoFit/>
          </a:bodyPr>
          <a:lstStyle/>
          <a:p>
            <a:pPr algn="l" marL="0" indent="0" lvl="0">
              <a:lnSpc>
                <a:spcPts val="3499"/>
              </a:lnSpc>
              <a:spcBef>
                <a:spcPct val="0"/>
              </a:spcBef>
            </a:pPr>
            <a:r>
              <a:rPr lang="en-US" sz="2499">
                <a:solidFill>
                  <a:srgbClr val="051D40"/>
                </a:solidFill>
                <a:latin typeface="Times New Roman"/>
                <a:ea typeface="Times New Roman"/>
                <a:cs typeface="Times New Roman"/>
                <a:sym typeface="Times New Roman"/>
              </a:rPr>
              <a:t>As a Lead Data Analyst at a company like Microsoft, your role involves using advanced SQL skills to analyze operational data and provide insights that help various teams, such as operations, support, and marketing, improve efficiency. A key focus will be investigating and explaining sudden changes in key metrics, like drops in user engagement or sales, to enhance the company's overall performance.</a:t>
            </a: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6656283" y="-2445901"/>
            <a:ext cx="15178802" cy="15178802"/>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38100" cap="sq">
              <a:solidFill>
                <a:srgbClr val="145DA0"/>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6379385" y="-1797460"/>
            <a:ext cx="13881919" cy="13881919"/>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8" id="8"/>
          <p:cNvSpPr txBox="true"/>
          <p:nvPr/>
        </p:nvSpPr>
        <p:spPr>
          <a:xfrm rot="0">
            <a:off x="933118" y="4465258"/>
            <a:ext cx="6486181" cy="890681"/>
          </a:xfrm>
          <a:prstGeom prst="rect">
            <a:avLst/>
          </a:prstGeom>
        </p:spPr>
        <p:txBody>
          <a:bodyPr anchor="t" rtlCol="false" tIns="0" lIns="0" bIns="0" rIns="0">
            <a:spAutoFit/>
          </a:bodyPr>
          <a:lstStyle/>
          <a:p>
            <a:pPr algn="l" marL="0" indent="0" lvl="0">
              <a:lnSpc>
                <a:spcPts val="6553"/>
              </a:lnSpc>
              <a:spcBef>
                <a:spcPct val="0"/>
              </a:spcBef>
            </a:pPr>
            <a:r>
              <a:rPr lang="en-US" sz="4680">
                <a:solidFill>
                  <a:srgbClr val="FDFDFD"/>
                </a:solidFill>
                <a:latin typeface="Times New Roman Bold"/>
                <a:ea typeface="Times New Roman Bold"/>
                <a:cs typeface="Times New Roman Bold"/>
                <a:sym typeface="Times New Roman Bold"/>
              </a:rPr>
              <a:t>Project Approach:</a:t>
            </a:r>
          </a:p>
        </p:txBody>
      </p:sp>
      <p:grpSp>
        <p:nvGrpSpPr>
          <p:cNvPr name="Group 9" id="9"/>
          <p:cNvGrpSpPr/>
          <p:nvPr/>
        </p:nvGrpSpPr>
        <p:grpSpPr>
          <a:xfrm rot="0">
            <a:off x="7905455" y="2656032"/>
            <a:ext cx="373607" cy="373607"/>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38100" cap="sq">
              <a:solidFill>
                <a:srgbClr val="00569E"/>
              </a:solidFill>
              <a:prstDash val="solid"/>
              <a:miter/>
            </a:ln>
          </p:spPr>
        </p:sp>
        <p:sp>
          <p:nvSpPr>
            <p:cNvPr name="TextBox 11" id="11"/>
            <p:cNvSpPr txBox="true"/>
            <p:nvPr/>
          </p:nvSpPr>
          <p:spPr>
            <a:xfrm>
              <a:off x="76200" y="28575"/>
              <a:ext cx="660400" cy="708025"/>
            </a:xfrm>
            <a:prstGeom prst="rect">
              <a:avLst/>
            </a:prstGeom>
          </p:spPr>
          <p:txBody>
            <a:bodyPr anchor="ctr" rtlCol="false" tIns="0" lIns="0" bIns="0" rIns="0"/>
            <a:lstStyle/>
            <a:p>
              <a:pPr algn="ctr">
                <a:lnSpc>
                  <a:spcPts val="3640"/>
                </a:lnSpc>
              </a:pPr>
            </a:p>
          </p:txBody>
        </p:sp>
      </p:grpSp>
      <p:grpSp>
        <p:nvGrpSpPr>
          <p:cNvPr name="Group 12" id="12"/>
          <p:cNvGrpSpPr/>
          <p:nvPr/>
        </p:nvGrpSpPr>
        <p:grpSpPr>
          <a:xfrm rot="0">
            <a:off x="8315313" y="4180490"/>
            <a:ext cx="373607" cy="373607"/>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38100" cap="sq">
              <a:solidFill>
                <a:srgbClr val="00569E"/>
              </a:solidFill>
              <a:prstDash val="solid"/>
              <a:miter/>
            </a:ln>
          </p:spPr>
        </p:sp>
        <p:sp>
          <p:nvSpPr>
            <p:cNvPr name="TextBox 14" id="14"/>
            <p:cNvSpPr txBox="true"/>
            <p:nvPr/>
          </p:nvSpPr>
          <p:spPr>
            <a:xfrm>
              <a:off x="76200" y="28575"/>
              <a:ext cx="660400" cy="708025"/>
            </a:xfrm>
            <a:prstGeom prst="rect">
              <a:avLst/>
            </a:prstGeom>
          </p:spPr>
          <p:txBody>
            <a:bodyPr anchor="ctr" rtlCol="false" tIns="0" lIns="0" bIns="0" rIns="0"/>
            <a:lstStyle/>
            <a:p>
              <a:pPr algn="ctr">
                <a:lnSpc>
                  <a:spcPts val="3640"/>
                </a:lnSpc>
              </a:pPr>
            </a:p>
          </p:txBody>
        </p:sp>
      </p:grpSp>
      <p:grpSp>
        <p:nvGrpSpPr>
          <p:cNvPr name="Group 15" id="15"/>
          <p:cNvGrpSpPr/>
          <p:nvPr/>
        </p:nvGrpSpPr>
        <p:grpSpPr>
          <a:xfrm rot="0">
            <a:off x="7944228" y="7402839"/>
            <a:ext cx="373607" cy="373607"/>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38100" cap="sq">
              <a:solidFill>
                <a:srgbClr val="00569E"/>
              </a:solidFill>
              <a:prstDash val="solid"/>
              <a:miter/>
            </a:ln>
          </p:spPr>
        </p:sp>
        <p:sp>
          <p:nvSpPr>
            <p:cNvPr name="TextBox 17" id="17"/>
            <p:cNvSpPr txBox="true"/>
            <p:nvPr/>
          </p:nvSpPr>
          <p:spPr>
            <a:xfrm>
              <a:off x="76200" y="28575"/>
              <a:ext cx="660400" cy="708025"/>
            </a:xfrm>
            <a:prstGeom prst="rect">
              <a:avLst/>
            </a:prstGeom>
          </p:spPr>
          <p:txBody>
            <a:bodyPr anchor="ctr" rtlCol="false" tIns="0" lIns="0" bIns="0" rIns="0"/>
            <a:lstStyle/>
            <a:p>
              <a:pPr algn="ctr">
                <a:lnSpc>
                  <a:spcPts val="3640"/>
                </a:lnSpc>
              </a:pPr>
            </a:p>
          </p:txBody>
        </p:sp>
      </p:grpSp>
      <p:grpSp>
        <p:nvGrpSpPr>
          <p:cNvPr name="Group 18" id="18"/>
          <p:cNvGrpSpPr/>
          <p:nvPr/>
        </p:nvGrpSpPr>
        <p:grpSpPr>
          <a:xfrm rot="0">
            <a:off x="8309460" y="5760481"/>
            <a:ext cx="373607" cy="373607"/>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38100" cap="sq">
              <a:solidFill>
                <a:srgbClr val="00569E"/>
              </a:solidFill>
              <a:prstDash val="solid"/>
              <a:miter/>
            </a:ln>
          </p:spPr>
        </p:sp>
        <p:sp>
          <p:nvSpPr>
            <p:cNvPr name="TextBox 20" id="20"/>
            <p:cNvSpPr txBox="true"/>
            <p:nvPr/>
          </p:nvSpPr>
          <p:spPr>
            <a:xfrm>
              <a:off x="76200" y="28575"/>
              <a:ext cx="660400" cy="708025"/>
            </a:xfrm>
            <a:prstGeom prst="rect">
              <a:avLst/>
            </a:prstGeom>
          </p:spPr>
          <p:txBody>
            <a:bodyPr anchor="ctr" rtlCol="false" tIns="0" lIns="0" bIns="0" rIns="0"/>
            <a:lstStyle/>
            <a:p>
              <a:pPr algn="ctr">
                <a:lnSpc>
                  <a:spcPts val="3640"/>
                </a:lnSpc>
              </a:pPr>
            </a:p>
          </p:txBody>
        </p:sp>
      </p:grpSp>
      <p:sp>
        <p:nvSpPr>
          <p:cNvPr name="TextBox 21" id="21"/>
          <p:cNvSpPr txBox="true"/>
          <p:nvPr/>
        </p:nvSpPr>
        <p:spPr>
          <a:xfrm rot="0">
            <a:off x="9574745" y="2232267"/>
            <a:ext cx="7380205" cy="5727216"/>
          </a:xfrm>
          <a:prstGeom prst="rect">
            <a:avLst/>
          </a:prstGeom>
        </p:spPr>
        <p:txBody>
          <a:bodyPr anchor="t" rtlCol="false" tIns="0" lIns="0" bIns="0" rIns="0">
            <a:spAutoFit/>
          </a:bodyPr>
          <a:lstStyle/>
          <a:p>
            <a:pPr algn="l" marL="539749" indent="-269875" lvl="1">
              <a:lnSpc>
                <a:spcPts val="3499"/>
              </a:lnSpc>
              <a:buFont typeface="Arial"/>
              <a:buChar char="•"/>
            </a:pPr>
            <a:r>
              <a:rPr lang="en-US" sz="2499">
                <a:solidFill>
                  <a:srgbClr val="051D40"/>
                </a:solidFill>
                <a:latin typeface="Times New Roman"/>
                <a:ea typeface="Times New Roman"/>
                <a:cs typeface="Times New Roman"/>
                <a:sym typeface="Times New Roman"/>
              </a:rPr>
              <a:t>Firstly, I spent some time on understanding the data/table given. </a:t>
            </a:r>
          </a:p>
          <a:p>
            <a:pPr algn="l" marL="539749" indent="-269875" lvl="1">
              <a:lnSpc>
                <a:spcPts val="3499"/>
              </a:lnSpc>
              <a:buFont typeface="Arial"/>
              <a:buChar char="•"/>
            </a:pPr>
            <a:r>
              <a:rPr lang="en-US" sz="2499">
                <a:solidFill>
                  <a:srgbClr val="051D40"/>
                </a:solidFill>
                <a:latin typeface="Times New Roman"/>
                <a:ea typeface="Times New Roman"/>
                <a:cs typeface="Times New Roman"/>
                <a:sym typeface="Times New Roman"/>
              </a:rPr>
              <a:t>I cleared the questions which was in my mind like what does the job_id, actor_id, event means and what are the things to consider while reviewing the data. </a:t>
            </a:r>
          </a:p>
          <a:p>
            <a:pPr algn="l" marL="539749" indent="-269875" lvl="1">
              <a:lnSpc>
                <a:spcPts val="3499"/>
              </a:lnSpc>
              <a:buFont typeface="Arial"/>
              <a:buChar char="•"/>
            </a:pPr>
            <a:r>
              <a:rPr lang="en-US" sz="2499">
                <a:solidFill>
                  <a:srgbClr val="051D40"/>
                </a:solidFill>
                <a:latin typeface="Times New Roman"/>
                <a:ea typeface="Times New Roman"/>
                <a:cs typeface="Times New Roman"/>
                <a:sym typeface="Times New Roman"/>
              </a:rPr>
              <a:t>I use SQL to derive different insights from the dataset provided by the management team. </a:t>
            </a:r>
          </a:p>
          <a:p>
            <a:pPr algn="l" marL="539749" indent="-269875" lvl="1">
              <a:lnSpc>
                <a:spcPts val="3499"/>
              </a:lnSpc>
              <a:buFont typeface="Arial"/>
              <a:buChar char="•"/>
            </a:pPr>
            <a:r>
              <a:rPr lang="en-US" sz="2499">
                <a:solidFill>
                  <a:srgbClr val="051D40"/>
                </a:solidFill>
                <a:latin typeface="Times New Roman"/>
                <a:ea typeface="Times New Roman"/>
                <a:cs typeface="Times New Roman"/>
                <a:sym typeface="Times New Roman"/>
              </a:rPr>
              <a:t>I first created a database “operation_analytics” and then the tables using the structure and links provided by the team. </a:t>
            </a:r>
          </a:p>
          <a:p>
            <a:pPr algn="l" marL="539749" indent="-269875" lvl="1">
              <a:lnSpc>
                <a:spcPts val="3499"/>
              </a:lnSpc>
              <a:buFont typeface="Arial"/>
              <a:buChar char="•"/>
            </a:pPr>
            <a:r>
              <a:rPr lang="en-US" sz="2499">
                <a:solidFill>
                  <a:srgbClr val="051D40"/>
                </a:solidFill>
                <a:latin typeface="Times New Roman"/>
                <a:ea typeface="Times New Roman"/>
                <a:cs typeface="Times New Roman"/>
                <a:sym typeface="Times New Roman"/>
              </a:rPr>
              <a:t>Then, we performed analysis to generate valuable insights for the company.</a:t>
            </a:r>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6656283" y="-2445901"/>
            <a:ext cx="15178802" cy="15178802"/>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38100" cap="sq">
              <a:solidFill>
                <a:srgbClr val="145DA0"/>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6379385" y="-1797460"/>
            <a:ext cx="13881919" cy="13881919"/>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8" id="8"/>
          <p:cNvSpPr txBox="true"/>
          <p:nvPr/>
        </p:nvSpPr>
        <p:spPr>
          <a:xfrm rot="0">
            <a:off x="933118" y="4465258"/>
            <a:ext cx="6486181" cy="890681"/>
          </a:xfrm>
          <a:prstGeom prst="rect">
            <a:avLst/>
          </a:prstGeom>
        </p:spPr>
        <p:txBody>
          <a:bodyPr anchor="t" rtlCol="false" tIns="0" lIns="0" bIns="0" rIns="0">
            <a:spAutoFit/>
          </a:bodyPr>
          <a:lstStyle/>
          <a:p>
            <a:pPr algn="l" marL="0" indent="0" lvl="0">
              <a:lnSpc>
                <a:spcPts val="6553"/>
              </a:lnSpc>
              <a:spcBef>
                <a:spcPct val="0"/>
              </a:spcBef>
            </a:pPr>
            <a:r>
              <a:rPr lang="en-US" sz="4680">
                <a:solidFill>
                  <a:srgbClr val="FDFDFD"/>
                </a:solidFill>
                <a:latin typeface="Times New Roman Bold"/>
                <a:ea typeface="Times New Roman Bold"/>
                <a:cs typeface="Times New Roman Bold"/>
                <a:sym typeface="Times New Roman Bold"/>
              </a:rPr>
              <a:t>Tech Task Used:</a:t>
            </a:r>
          </a:p>
        </p:txBody>
      </p:sp>
      <p:grpSp>
        <p:nvGrpSpPr>
          <p:cNvPr name="Group 9" id="9"/>
          <p:cNvGrpSpPr/>
          <p:nvPr/>
        </p:nvGrpSpPr>
        <p:grpSpPr>
          <a:xfrm rot="0">
            <a:off x="7905455" y="2656032"/>
            <a:ext cx="373607" cy="373607"/>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38100" cap="sq">
              <a:solidFill>
                <a:srgbClr val="00569E"/>
              </a:solidFill>
              <a:prstDash val="solid"/>
              <a:miter/>
            </a:ln>
          </p:spPr>
        </p:sp>
        <p:sp>
          <p:nvSpPr>
            <p:cNvPr name="TextBox 11" id="11"/>
            <p:cNvSpPr txBox="true"/>
            <p:nvPr/>
          </p:nvSpPr>
          <p:spPr>
            <a:xfrm>
              <a:off x="76200" y="28575"/>
              <a:ext cx="660400" cy="708025"/>
            </a:xfrm>
            <a:prstGeom prst="rect">
              <a:avLst/>
            </a:prstGeom>
          </p:spPr>
          <p:txBody>
            <a:bodyPr anchor="ctr" rtlCol="false" tIns="0" lIns="0" bIns="0" rIns="0"/>
            <a:lstStyle/>
            <a:p>
              <a:pPr algn="ctr">
                <a:lnSpc>
                  <a:spcPts val="3640"/>
                </a:lnSpc>
              </a:pPr>
            </a:p>
          </p:txBody>
        </p:sp>
      </p:grpSp>
      <p:grpSp>
        <p:nvGrpSpPr>
          <p:cNvPr name="Group 12" id="12"/>
          <p:cNvGrpSpPr/>
          <p:nvPr/>
        </p:nvGrpSpPr>
        <p:grpSpPr>
          <a:xfrm rot="0">
            <a:off x="8315313" y="4180490"/>
            <a:ext cx="373607" cy="373607"/>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38100" cap="sq">
              <a:solidFill>
                <a:srgbClr val="00569E"/>
              </a:solidFill>
              <a:prstDash val="solid"/>
              <a:miter/>
            </a:ln>
          </p:spPr>
        </p:sp>
        <p:sp>
          <p:nvSpPr>
            <p:cNvPr name="TextBox 14" id="14"/>
            <p:cNvSpPr txBox="true"/>
            <p:nvPr/>
          </p:nvSpPr>
          <p:spPr>
            <a:xfrm>
              <a:off x="76200" y="28575"/>
              <a:ext cx="660400" cy="708025"/>
            </a:xfrm>
            <a:prstGeom prst="rect">
              <a:avLst/>
            </a:prstGeom>
          </p:spPr>
          <p:txBody>
            <a:bodyPr anchor="ctr" rtlCol="false" tIns="0" lIns="0" bIns="0" rIns="0"/>
            <a:lstStyle/>
            <a:p>
              <a:pPr algn="ctr">
                <a:lnSpc>
                  <a:spcPts val="3640"/>
                </a:lnSpc>
              </a:pPr>
            </a:p>
          </p:txBody>
        </p:sp>
      </p:grpSp>
      <p:grpSp>
        <p:nvGrpSpPr>
          <p:cNvPr name="Group 15" id="15"/>
          <p:cNvGrpSpPr/>
          <p:nvPr/>
        </p:nvGrpSpPr>
        <p:grpSpPr>
          <a:xfrm rot="0">
            <a:off x="7944228" y="7402839"/>
            <a:ext cx="373607" cy="373607"/>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38100" cap="sq">
              <a:solidFill>
                <a:srgbClr val="00569E"/>
              </a:solidFill>
              <a:prstDash val="solid"/>
              <a:miter/>
            </a:ln>
          </p:spPr>
        </p:sp>
        <p:sp>
          <p:nvSpPr>
            <p:cNvPr name="TextBox 17" id="17"/>
            <p:cNvSpPr txBox="true"/>
            <p:nvPr/>
          </p:nvSpPr>
          <p:spPr>
            <a:xfrm>
              <a:off x="76200" y="28575"/>
              <a:ext cx="660400" cy="708025"/>
            </a:xfrm>
            <a:prstGeom prst="rect">
              <a:avLst/>
            </a:prstGeom>
          </p:spPr>
          <p:txBody>
            <a:bodyPr anchor="ctr" rtlCol="false" tIns="0" lIns="0" bIns="0" rIns="0"/>
            <a:lstStyle/>
            <a:p>
              <a:pPr algn="ctr">
                <a:lnSpc>
                  <a:spcPts val="3640"/>
                </a:lnSpc>
              </a:pPr>
            </a:p>
          </p:txBody>
        </p:sp>
      </p:grpSp>
      <p:grpSp>
        <p:nvGrpSpPr>
          <p:cNvPr name="Group 18" id="18"/>
          <p:cNvGrpSpPr/>
          <p:nvPr/>
        </p:nvGrpSpPr>
        <p:grpSpPr>
          <a:xfrm rot="0">
            <a:off x="8309460" y="5760481"/>
            <a:ext cx="373607" cy="373607"/>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38100" cap="sq">
              <a:solidFill>
                <a:srgbClr val="00569E"/>
              </a:solidFill>
              <a:prstDash val="solid"/>
              <a:miter/>
            </a:ln>
          </p:spPr>
        </p:sp>
        <p:sp>
          <p:nvSpPr>
            <p:cNvPr name="TextBox 20" id="20"/>
            <p:cNvSpPr txBox="true"/>
            <p:nvPr/>
          </p:nvSpPr>
          <p:spPr>
            <a:xfrm>
              <a:off x="76200" y="28575"/>
              <a:ext cx="660400" cy="708025"/>
            </a:xfrm>
            <a:prstGeom prst="rect">
              <a:avLst/>
            </a:prstGeom>
          </p:spPr>
          <p:txBody>
            <a:bodyPr anchor="ctr" rtlCol="false" tIns="0" lIns="0" bIns="0" rIns="0"/>
            <a:lstStyle/>
            <a:p>
              <a:pPr algn="ctr">
                <a:lnSpc>
                  <a:spcPts val="3640"/>
                </a:lnSpc>
              </a:pPr>
            </a:p>
          </p:txBody>
        </p:sp>
      </p:grpSp>
      <p:sp>
        <p:nvSpPr>
          <p:cNvPr name="TextBox 21" id="21"/>
          <p:cNvSpPr txBox="true"/>
          <p:nvPr/>
        </p:nvSpPr>
        <p:spPr>
          <a:xfrm rot="0">
            <a:off x="9700377" y="4235524"/>
            <a:ext cx="7380205" cy="907976"/>
          </a:xfrm>
          <a:prstGeom prst="rect">
            <a:avLst/>
          </a:prstGeom>
        </p:spPr>
        <p:txBody>
          <a:bodyPr anchor="t" rtlCol="false" tIns="0" lIns="0" bIns="0" rIns="0">
            <a:spAutoFit/>
          </a:bodyPr>
          <a:lstStyle/>
          <a:p>
            <a:pPr algn="l">
              <a:lnSpc>
                <a:spcPts val="3499"/>
              </a:lnSpc>
            </a:pPr>
            <a:r>
              <a:rPr lang="en-US" sz="2499">
                <a:solidFill>
                  <a:srgbClr val="051D40"/>
                </a:solidFill>
                <a:latin typeface="Times New Roman"/>
                <a:ea typeface="Times New Roman"/>
                <a:cs typeface="Times New Roman"/>
                <a:sym typeface="Times New Roman"/>
              </a:rPr>
              <a:t>The tech stack used include of MySQL Workbench which is an excellent tool for querying the database.</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7922514" y="-2630668"/>
            <a:ext cx="15178802" cy="15178802"/>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38100" cap="sq">
              <a:solidFill>
                <a:srgbClr val="145DA0"/>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7503865" y="-1939873"/>
            <a:ext cx="13881919" cy="13881919"/>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6730709" y="2679253"/>
            <a:ext cx="373607" cy="373607"/>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38100" cap="sq">
              <a:solidFill>
                <a:srgbClr val="00569E"/>
              </a:solidFill>
              <a:prstDash val="solid"/>
              <a:miter/>
            </a:ln>
          </p:spPr>
        </p:sp>
        <p:sp>
          <p:nvSpPr>
            <p:cNvPr name="TextBox 10" id="10"/>
            <p:cNvSpPr txBox="true"/>
            <p:nvPr/>
          </p:nvSpPr>
          <p:spPr>
            <a:xfrm>
              <a:off x="76200" y="28575"/>
              <a:ext cx="660400" cy="708025"/>
            </a:xfrm>
            <a:prstGeom prst="rect">
              <a:avLst/>
            </a:prstGeom>
          </p:spPr>
          <p:txBody>
            <a:bodyPr anchor="ctr" rtlCol="false" tIns="0" lIns="0" bIns="0" rIns="0"/>
            <a:lstStyle/>
            <a:p>
              <a:pPr algn="ctr">
                <a:lnSpc>
                  <a:spcPts val="3640"/>
                </a:lnSpc>
              </a:pPr>
            </a:p>
          </p:txBody>
        </p:sp>
      </p:grpSp>
      <p:grpSp>
        <p:nvGrpSpPr>
          <p:cNvPr name="Group 11" id="11"/>
          <p:cNvGrpSpPr/>
          <p:nvPr/>
        </p:nvGrpSpPr>
        <p:grpSpPr>
          <a:xfrm rot="0">
            <a:off x="7045691" y="4272626"/>
            <a:ext cx="373607" cy="373607"/>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38100" cap="sq">
              <a:solidFill>
                <a:srgbClr val="00569E"/>
              </a:solidFill>
              <a:prstDash val="solid"/>
              <a:miter/>
            </a:ln>
          </p:spPr>
        </p:sp>
        <p:sp>
          <p:nvSpPr>
            <p:cNvPr name="TextBox 13" id="13"/>
            <p:cNvSpPr txBox="true"/>
            <p:nvPr/>
          </p:nvSpPr>
          <p:spPr>
            <a:xfrm>
              <a:off x="76200" y="28575"/>
              <a:ext cx="660400" cy="708025"/>
            </a:xfrm>
            <a:prstGeom prst="rect">
              <a:avLst/>
            </a:prstGeom>
          </p:spPr>
          <p:txBody>
            <a:bodyPr anchor="ctr" rtlCol="false" tIns="0" lIns="0" bIns="0" rIns="0"/>
            <a:lstStyle/>
            <a:p>
              <a:pPr algn="ctr">
                <a:lnSpc>
                  <a:spcPts val="3640"/>
                </a:lnSpc>
              </a:pPr>
            </a:p>
          </p:txBody>
        </p:sp>
      </p:grpSp>
      <p:grpSp>
        <p:nvGrpSpPr>
          <p:cNvPr name="Group 14" id="14"/>
          <p:cNvGrpSpPr/>
          <p:nvPr/>
        </p:nvGrpSpPr>
        <p:grpSpPr>
          <a:xfrm rot="0">
            <a:off x="6730709" y="7216397"/>
            <a:ext cx="373607" cy="373607"/>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38100" cap="sq">
              <a:solidFill>
                <a:srgbClr val="00569E"/>
              </a:solidFill>
              <a:prstDash val="solid"/>
              <a:miter/>
            </a:ln>
          </p:spPr>
        </p:sp>
        <p:sp>
          <p:nvSpPr>
            <p:cNvPr name="TextBox 16" id="16"/>
            <p:cNvSpPr txBox="true"/>
            <p:nvPr/>
          </p:nvSpPr>
          <p:spPr>
            <a:xfrm>
              <a:off x="76200" y="28575"/>
              <a:ext cx="660400" cy="708025"/>
            </a:xfrm>
            <a:prstGeom prst="rect">
              <a:avLst/>
            </a:prstGeom>
          </p:spPr>
          <p:txBody>
            <a:bodyPr anchor="ctr" rtlCol="false" tIns="0" lIns="0" bIns="0" rIns="0"/>
            <a:lstStyle/>
            <a:p>
              <a:pPr algn="ctr">
                <a:lnSpc>
                  <a:spcPts val="3640"/>
                </a:lnSpc>
              </a:pPr>
            </a:p>
          </p:txBody>
        </p:sp>
      </p:grpSp>
      <p:grpSp>
        <p:nvGrpSpPr>
          <p:cNvPr name="Group 17" id="17"/>
          <p:cNvGrpSpPr/>
          <p:nvPr/>
        </p:nvGrpSpPr>
        <p:grpSpPr>
          <a:xfrm rot="0">
            <a:off x="7045691" y="5597931"/>
            <a:ext cx="373607" cy="373607"/>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38100" cap="sq">
              <a:solidFill>
                <a:srgbClr val="00569E"/>
              </a:solidFill>
              <a:prstDash val="solid"/>
              <a:miter/>
            </a:ln>
          </p:spPr>
        </p:sp>
        <p:sp>
          <p:nvSpPr>
            <p:cNvPr name="TextBox 19" id="19"/>
            <p:cNvSpPr txBox="true"/>
            <p:nvPr/>
          </p:nvSpPr>
          <p:spPr>
            <a:xfrm>
              <a:off x="76200" y="28575"/>
              <a:ext cx="660400" cy="708025"/>
            </a:xfrm>
            <a:prstGeom prst="rect">
              <a:avLst/>
            </a:prstGeom>
          </p:spPr>
          <p:txBody>
            <a:bodyPr anchor="ctr" rtlCol="false" tIns="0" lIns="0" bIns="0" rIns="0"/>
            <a:lstStyle/>
            <a:p>
              <a:pPr algn="ctr">
                <a:lnSpc>
                  <a:spcPts val="3640"/>
                </a:lnSpc>
              </a:pPr>
            </a:p>
          </p:txBody>
        </p:sp>
      </p:grpSp>
      <p:sp>
        <p:nvSpPr>
          <p:cNvPr name="Freeform 20" id="20"/>
          <p:cNvSpPr/>
          <p:nvPr/>
        </p:nvSpPr>
        <p:spPr>
          <a:xfrm flipH="false" flipV="false" rot="0">
            <a:off x="7969941" y="8482793"/>
            <a:ext cx="8515636" cy="1440777"/>
          </a:xfrm>
          <a:custGeom>
            <a:avLst/>
            <a:gdLst/>
            <a:ahLst/>
            <a:cxnLst/>
            <a:rect r="r" b="b" t="t" l="l"/>
            <a:pathLst>
              <a:path h="1440777" w="8515636">
                <a:moveTo>
                  <a:pt x="0" y="0"/>
                </a:moveTo>
                <a:lnTo>
                  <a:pt x="8515636" y="0"/>
                </a:lnTo>
                <a:lnTo>
                  <a:pt x="8515636" y="1440777"/>
                </a:lnTo>
                <a:lnTo>
                  <a:pt x="0" y="1440777"/>
                </a:lnTo>
                <a:lnTo>
                  <a:pt x="0" y="0"/>
                </a:lnTo>
                <a:close/>
              </a:path>
            </a:pathLst>
          </a:custGeom>
          <a:blipFill>
            <a:blip r:embed="rId2"/>
            <a:stretch>
              <a:fillRect l="0" t="0" r="0" b="0"/>
            </a:stretch>
          </a:blipFill>
        </p:spPr>
      </p:sp>
      <p:sp>
        <p:nvSpPr>
          <p:cNvPr name="TextBox 21" id="21"/>
          <p:cNvSpPr txBox="true"/>
          <p:nvPr/>
        </p:nvSpPr>
        <p:spPr>
          <a:xfrm rot="0">
            <a:off x="7969941" y="268180"/>
            <a:ext cx="9173252" cy="3098540"/>
          </a:xfrm>
          <a:prstGeom prst="rect">
            <a:avLst/>
          </a:prstGeom>
        </p:spPr>
        <p:txBody>
          <a:bodyPr anchor="t" rtlCol="false" tIns="0" lIns="0" bIns="0" rIns="0">
            <a:spAutoFit/>
          </a:bodyPr>
          <a:lstStyle/>
          <a:p>
            <a:pPr algn="l">
              <a:lnSpc>
                <a:spcPts val="3499"/>
              </a:lnSpc>
            </a:pPr>
            <a:r>
              <a:rPr lang="en-US" sz="2499">
                <a:solidFill>
                  <a:srgbClr val="051D40"/>
                </a:solidFill>
                <a:latin typeface="Times New Roman Bold"/>
                <a:ea typeface="Times New Roman Bold"/>
                <a:cs typeface="Times New Roman Bold"/>
                <a:sym typeface="Times New Roman Bold"/>
              </a:rPr>
              <a:t>1) Case Study 1: Job Data Analysis</a:t>
            </a:r>
          </a:p>
          <a:p>
            <a:pPr algn="l">
              <a:lnSpc>
                <a:spcPts val="3499"/>
              </a:lnSpc>
            </a:pPr>
          </a:p>
          <a:p>
            <a:pPr algn="l">
              <a:lnSpc>
                <a:spcPts val="3499"/>
              </a:lnSpc>
            </a:pPr>
            <a:r>
              <a:rPr lang="en-US" sz="2499">
                <a:solidFill>
                  <a:srgbClr val="051D40"/>
                </a:solidFill>
                <a:latin typeface="Times New Roman Bold"/>
                <a:ea typeface="Times New Roman Bold"/>
                <a:cs typeface="Times New Roman Bold"/>
                <a:sym typeface="Times New Roman Bold"/>
              </a:rPr>
              <a:t>A) Jobs Reviewed Over Time:</a:t>
            </a:r>
          </a:p>
          <a:p>
            <a:pPr algn="l" marL="539749" indent="-269875" lvl="1">
              <a:lnSpc>
                <a:spcPts val="3499"/>
              </a:lnSpc>
              <a:buFont typeface="Arial"/>
              <a:buChar char="•"/>
            </a:pPr>
            <a:r>
              <a:rPr lang="en-US" sz="2499">
                <a:solidFill>
                  <a:srgbClr val="051D40"/>
                </a:solidFill>
                <a:latin typeface="Times New Roman Bold"/>
                <a:ea typeface="Times New Roman Bold"/>
                <a:cs typeface="Times New Roman Bold"/>
                <a:sym typeface="Times New Roman Bold"/>
              </a:rPr>
              <a:t>Objective: </a:t>
            </a:r>
            <a:r>
              <a:rPr lang="en-US" sz="2499">
                <a:solidFill>
                  <a:srgbClr val="051D40"/>
                </a:solidFill>
                <a:latin typeface="Times New Roman"/>
                <a:ea typeface="Times New Roman"/>
                <a:cs typeface="Times New Roman"/>
                <a:sym typeface="Times New Roman"/>
              </a:rPr>
              <a:t>Calculate the number of jobs reviewed per hour for each day in November 2020.</a:t>
            </a:r>
          </a:p>
          <a:p>
            <a:pPr algn="l" marL="539749" indent="-269875" lvl="1">
              <a:lnSpc>
                <a:spcPts val="3499"/>
              </a:lnSpc>
              <a:buFont typeface="Arial"/>
              <a:buChar char="•"/>
            </a:pPr>
            <a:r>
              <a:rPr lang="en-US" sz="2499">
                <a:solidFill>
                  <a:srgbClr val="051D40"/>
                </a:solidFill>
                <a:latin typeface="Times New Roman Bold"/>
                <a:ea typeface="Times New Roman Bold"/>
                <a:cs typeface="Times New Roman Bold"/>
                <a:sym typeface="Times New Roman Bold"/>
              </a:rPr>
              <a:t>Your Task: </a:t>
            </a:r>
            <a:r>
              <a:rPr lang="en-US" sz="2499">
                <a:solidFill>
                  <a:srgbClr val="051D40"/>
                </a:solidFill>
                <a:latin typeface="Times New Roman"/>
                <a:ea typeface="Times New Roman"/>
                <a:cs typeface="Times New Roman"/>
                <a:sym typeface="Times New Roman"/>
              </a:rPr>
              <a:t>Write an SQL query to calculate the number of jobs reviewed per hour for each day in November 2020.</a:t>
            </a:r>
          </a:p>
        </p:txBody>
      </p:sp>
      <p:sp>
        <p:nvSpPr>
          <p:cNvPr name="TextBox 22" id="22"/>
          <p:cNvSpPr txBox="true"/>
          <p:nvPr/>
        </p:nvSpPr>
        <p:spPr>
          <a:xfrm rot="0">
            <a:off x="7969941" y="7946763"/>
            <a:ext cx="7937519" cy="469863"/>
          </a:xfrm>
          <a:prstGeom prst="rect">
            <a:avLst/>
          </a:prstGeom>
        </p:spPr>
        <p:txBody>
          <a:bodyPr anchor="t" rtlCol="false" tIns="0" lIns="0" bIns="0" rIns="0">
            <a:spAutoFit/>
          </a:bodyPr>
          <a:lstStyle/>
          <a:p>
            <a:pPr algn="l">
              <a:lnSpc>
                <a:spcPts val="3499"/>
              </a:lnSpc>
            </a:pPr>
            <a:r>
              <a:rPr lang="en-US" sz="2499">
                <a:solidFill>
                  <a:srgbClr val="051D40"/>
                </a:solidFill>
                <a:latin typeface="Times New Roman Bold"/>
                <a:ea typeface="Times New Roman Bold"/>
                <a:cs typeface="Times New Roman Bold"/>
                <a:sym typeface="Times New Roman Bold"/>
              </a:rPr>
              <a:t>Query Result: </a:t>
            </a:r>
          </a:p>
        </p:txBody>
      </p:sp>
      <p:sp>
        <p:nvSpPr>
          <p:cNvPr name="TextBox 23" id="23"/>
          <p:cNvSpPr txBox="true"/>
          <p:nvPr/>
        </p:nvSpPr>
        <p:spPr>
          <a:xfrm rot="0">
            <a:off x="1028700" y="4465258"/>
            <a:ext cx="6486181" cy="890681"/>
          </a:xfrm>
          <a:prstGeom prst="rect">
            <a:avLst/>
          </a:prstGeom>
        </p:spPr>
        <p:txBody>
          <a:bodyPr anchor="t" rtlCol="false" tIns="0" lIns="0" bIns="0" rIns="0">
            <a:spAutoFit/>
          </a:bodyPr>
          <a:lstStyle/>
          <a:p>
            <a:pPr algn="l" marL="0" indent="0" lvl="0">
              <a:lnSpc>
                <a:spcPts val="6553"/>
              </a:lnSpc>
              <a:spcBef>
                <a:spcPct val="0"/>
              </a:spcBef>
            </a:pPr>
            <a:r>
              <a:rPr lang="en-US" sz="4680">
                <a:solidFill>
                  <a:srgbClr val="FDFDFD"/>
                </a:solidFill>
                <a:latin typeface="Times New Roman Bold"/>
                <a:ea typeface="Times New Roman Bold"/>
                <a:cs typeface="Times New Roman Bold"/>
                <a:sym typeface="Times New Roman Bold"/>
              </a:rPr>
              <a:t>SQL Task:</a:t>
            </a:r>
          </a:p>
        </p:txBody>
      </p:sp>
      <p:sp>
        <p:nvSpPr>
          <p:cNvPr name="TextBox 24" id="24"/>
          <p:cNvSpPr txBox="true"/>
          <p:nvPr/>
        </p:nvSpPr>
        <p:spPr>
          <a:xfrm rot="0">
            <a:off x="7969941" y="3440483"/>
            <a:ext cx="7937519" cy="469863"/>
          </a:xfrm>
          <a:prstGeom prst="rect">
            <a:avLst/>
          </a:prstGeom>
        </p:spPr>
        <p:txBody>
          <a:bodyPr anchor="t" rtlCol="false" tIns="0" lIns="0" bIns="0" rIns="0">
            <a:spAutoFit/>
          </a:bodyPr>
          <a:lstStyle/>
          <a:p>
            <a:pPr algn="l">
              <a:lnSpc>
                <a:spcPts val="3499"/>
              </a:lnSpc>
            </a:pPr>
            <a:r>
              <a:rPr lang="en-US" sz="2499">
                <a:solidFill>
                  <a:srgbClr val="051D40"/>
                </a:solidFill>
                <a:latin typeface="Times New Roman Bold"/>
                <a:ea typeface="Times New Roman Bold"/>
                <a:cs typeface="Times New Roman Bold"/>
                <a:sym typeface="Times New Roman Bold"/>
              </a:rPr>
              <a:t>SQL Query:</a:t>
            </a:r>
          </a:p>
        </p:txBody>
      </p:sp>
      <p:sp>
        <p:nvSpPr>
          <p:cNvPr name="TextBox 25" id="25"/>
          <p:cNvSpPr txBox="true"/>
          <p:nvPr/>
        </p:nvSpPr>
        <p:spPr>
          <a:xfrm rot="0">
            <a:off x="7969941" y="3895798"/>
            <a:ext cx="9173252" cy="3974765"/>
          </a:xfrm>
          <a:prstGeom prst="rect">
            <a:avLst/>
          </a:prstGeom>
        </p:spPr>
        <p:txBody>
          <a:bodyPr anchor="t" rtlCol="false" tIns="0" lIns="0" bIns="0" rIns="0">
            <a:spAutoFit/>
          </a:bodyPr>
          <a:lstStyle/>
          <a:p>
            <a:pPr algn="l">
              <a:lnSpc>
                <a:spcPts val="3499"/>
              </a:lnSpc>
            </a:pPr>
            <a:r>
              <a:rPr lang="en-US" sz="2499">
                <a:solidFill>
                  <a:srgbClr val="051D40"/>
                </a:solidFill>
                <a:latin typeface="Times New Roman"/>
                <a:ea typeface="Times New Roman"/>
                <a:cs typeface="Times New Roman"/>
                <a:sym typeface="Times New Roman"/>
              </a:rPr>
              <a:t>select avg(t) as "avg jobs reviewed per day per hour",</a:t>
            </a:r>
          </a:p>
          <a:p>
            <a:pPr algn="l">
              <a:lnSpc>
                <a:spcPts val="3499"/>
              </a:lnSpc>
            </a:pPr>
            <a:r>
              <a:rPr lang="en-US" sz="2499">
                <a:solidFill>
                  <a:srgbClr val="051D40"/>
                </a:solidFill>
                <a:latin typeface="Times New Roman"/>
                <a:ea typeface="Times New Roman"/>
                <a:cs typeface="Times New Roman"/>
                <a:sym typeface="Times New Roman"/>
              </a:rPr>
              <a:t>       avg(p) as "avg jobs reviewed per day per second"</a:t>
            </a:r>
          </a:p>
          <a:p>
            <a:pPr algn="l">
              <a:lnSpc>
                <a:spcPts val="3499"/>
              </a:lnSpc>
            </a:pPr>
            <a:r>
              <a:rPr lang="en-US" sz="2499">
                <a:solidFill>
                  <a:srgbClr val="051D40"/>
                </a:solidFill>
                <a:latin typeface="Times New Roman"/>
                <a:ea typeface="Times New Roman"/>
                <a:cs typeface="Times New Roman"/>
                <a:sym typeface="Times New Roman"/>
              </a:rPr>
              <a:t>from ( select ds,</a:t>
            </a:r>
          </a:p>
          <a:p>
            <a:pPr algn="l">
              <a:lnSpc>
                <a:spcPts val="3499"/>
              </a:lnSpc>
            </a:pPr>
            <a:r>
              <a:rPr lang="en-US" sz="2499">
                <a:solidFill>
                  <a:srgbClr val="051D40"/>
                </a:solidFill>
                <a:latin typeface="Times New Roman"/>
                <a:ea typeface="Times New Roman"/>
                <a:cs typeface="Times New Roman"/>
                <a:sym typeface="Times New Roman"/>
              </a:rPr>
              <a:t>        ((count(job_id) * 3600) / sum(time_spent)) as t,</a:t>
            </a:r>
          </a:p>
          <a:p>
            <a:pPr algn="l">
              <a:lnSpc>
                <a:spcPts val="3499"/>
              </a:lnSpc>
            </a:pPr>
            <a:r>
              <a:rPr lang="en-US" sz="2499">
                <a:solidFill>
                  <a:srgbClr val="051D40"/>
                </a:solidFill>
                <a:latin typeface="Times New Roman"/>
                <a:ea typeface="Times New Roman"/>
                <a:cs typeface="Times New Roman"/>
                <a:sym typeface="Times New Roman"/>
              </a:rPr>
              <a:t>        (count(job_id) / sum(time_spent)) as p</a:t>
            </a:r>
          </a:p>
          <a:p>
            <a:pPr algn="l">
              <a:lnSpc>
                <a:spcPts val="3499"/>
              </a:lnSpc>
            </a:pPr>
            <a:r>
              <a:rPr lang="en-US" sz="2499">
                <a:solidFill>
                  <a:srgbClr val="051D40"/>
                </a:solidFill>
                <a:latin typeface="Times New Roman"/>
                <a:ea typeface="Times New Roman"/>
                <a:cs typeface="Times New Roman"/>
                <a:sym typeface="Times New Roman"/>
              </a:rPr>
              <a:t>    from job_data</a:t>
            </a:r>
          </a:p>
          <a:p>
            <a:pPr algn="l">
              <a:lnSpc>
                <a:spcPts val="3499"/>
              </a:lnSpc>
            </a:pPr>
            <a:r>
              <a:rPr lang="en-US" sz="2499">
                <a:solidFill>
                  <a:srgbClr val="051D40"/>
                </a:solidFill>
                <a:latin typeface="Times New Roman"/>
                <a:ea typeface="Times New Roman"/>
                <a:cs typeface="Times New Roman"/>
                <a:sym typeface="Times New Roman"/>
              </a:rPr>
              <a:t>    where month(ds) = 11</a:t>
            </a:r>
          </a:p>
          <a:p>
            <a:pPr algn="l">
              <a:lnSpc>
                <a:spcPts val="3499"/>
              </a:lnSpc>
            </a:pPr>
            <a:r>
              <a:rPr lang="en-US" sz="2499">
                <a:solidFill>
                  <a:srgbClr val="051D40"/>
                </a:solidFill>
                <a:latin typeface="Times New Roman"/>
                <a:ea typeface="Times New Roman"/>
                <a:cs typeface="Times New Roman"/>
                <a:sym typeface="Times New Roman"/>
              </a:rPr>
              <a:t>    group by ds</a:t>
            </a:r>
          </a:p>
          <a:p>
            <a:pPr algn="l">
              <a:lnSpc>
                <a:spcPts val="3499"/>
              </a:lnSpc>
            </a:pPr>
            <a:r>
              <a:rPr lang="en-US" sz="2499">
                <a:solidFill>
                  <a:srgbClr val="051D40"/>
                </a:solidFill>
                <a:latin typeface="Times New Roman"/>
                <a:ea typeface="Times New Roman"/>
                <a:cs typeface="Times New Roman"/>
                <a:sym typeface="Times New Roman"/>
              </a:rPr>
              <a:t>) a;</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7922514" y="-2630668"/>
            <a:ext cx="15178802" cy="15178802"/>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38100" cap="sq">
              <a:solidFill>
                <a:srgbClr val="145DA0"/>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7503865" y="-1939873"/>
            <a:ext cx="13881919" cy="13881919"/>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6730709" y="2679253"/>
            <a:ext cx="373607" cy="373607"/>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38100" cap="sq">
              <a:solidFill>
                <a:srgbClr val="00569E"/>
              </a:solidFill>
              <a:prstDash val="solid"/>
              <a:miter/>
            </a:ln>
          </p:spPr>
        </p:sp>
        <p:sp>
          <p:nvSpPr>
            <p:cNvPr name="TextBox 10" id="10"/>
            <p:cNvSpPr txBox="true"/>
            <p:nvPr/>
          </p:nvSpPr>
          <p:spPr>
            <a:xfrm>
              <a:off x="76200" y="28575"/>
              <a:ext cx="660400" cy="708025"/>
            </a:xfrm>
            <a:prstGeom prst="rect">
              <a:avLst/>
            </a:prstGeom>
          </p:spPr>
          <p:txBody>
            <a:bodyPr anchor="ctr" rtlCol="false" tIns="0" lIns="0" bIns="0" rIns="0"/>
            <a:lstStyle/>
            <a:p>
              <a:pPr algn="ctr">
                <a:lnSpc>
                  <a:spcPts val="3640"/>
                </a:lnSpc>
              </a:pPr>
            </a:p>
          </p:txBody>
        </p:sp>
      </p:grpSp>
      <p:grpSp>
        <p:nvGrpSpPr>
          <p:cNvPr name="Group 11" id="11"/>
          <p:cNvGrpSpPr/>
          <p:nvPr/>
        </p:nvGrpSpPr>
        <p:grpSpPr>
          <a:xfrm rot="0">
            <a:off x="7045691" y="4272626"/>
            <a:ext cx="373607" cy="373607"/>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38100" cap="sq">
              <a:solidFill>
                <a:srgbClr val="00569E"/>
              </a:solidFill>
              <a:prstDash val="solid"/>
              <a:miter/>
            </a:ln>
          </p:spPr>
        </p:sp>
        <p:sp>
          <p:nvSpPr>
            <p:cNvPr name="TextBox 13" id="13"/>
            <p:cNvSpPr txBox="true"/>
            <p:nvPr/>
          </p:nvSpPr>
          <p:spPr>
            <a:xfrm>
              <a:off x="76200" y="28575"/>
              <a:ext cx="660400" cy="708025"/>
            </a:xfrm>
            <a:prstGeom prst="rect">
              <a:avLst/>
            </a:prstGeom>
          </p:spPr>
          <p:txBody>
            <a:bodyPr anchor="ctr" rtlCol="false" tIns="0" lIns="0" bIns="0" rIns="0"/>
            <a:lstStyle/>
            <a:p>
              <a:pPr algn="ctr">
                <a:lnSpc>
                  <a:spcPts val="3640"/>
                </a:lnSpc>
              </a:pPr>
            </a:p>
          </p:txBody>
        </p:sp>
      </p:grpSp>
      <p:grpSp>
        <p:nvGrpSpPr>
          <p:cNvPr name="Group 14" id="14"/>
          <p:cNvGrpSpPr/>
          <p:nvPr/>
        </p:nvGrpSpPr>
        <p:grpSpPr>
          <a:xfrm rot="0">
            <a:off x="6730709" y="7216397"/>
            <a:ext cx="373607" cy="373607"/>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38100" cap="sq">
              <a:solidFill>
                <a:srgbClr val="00569E"/>
              </a:solidFill>
              <a:prstDash val="solid"/>
              <a:miter/>
            </a:ln>
          </p:spPr>
        </p:sp>
        <p:sp>
          <p:nvSpPr>
            <p:cNvPr name="TextBox 16" id="16"/>
            <p:cNvSpPr txBox="true"/>
            <p:nvPr/>
          </p:nvSpPr>
          <p:spPr>
            <a:xfrm>
              <a:off x="76200" y="28575"/>
              <a:ext cx="660400" cy="708025"/>
            </a:xfrm>
            <a:prstGeom prst="rect">
              <a:avLst/>
            </a:prstGeom>
          </p:spPr>
          <p:txBody>
            <a:bodyPr anchor="ctr" rtlCol="false" tIns="0" lIns="0" bIns="0" rIns="0"/>
            <a:lstStyle/>
            <a:p>
              <a:pPr algn="ctr">
                <a:lnSpc>
                  <a:spcPts val="3640"/>
                </a:lnSpc>
              </a:pPr>
            </a:p>
          </p:txBody>
        </p:sp>
      </p:grpSp>
      <p:grpSp>
        <p:nvGrpSpPr>
          <p:cNvPr name="Group 17" id="17"/>
          <p:cNvGrpSpPr/>
          <p:nvPr/>
        </p:nvGrpSpPr>
        <p:grpSpPr>
          <a:xfrm rot="0">
            <a:off x="7045691" y="5597931"/>
            <a:ext cx="373607" cy="373607"/>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38100" cap="sq">
              <a:solidFill>
                <a:srgbClr val="00569E"/>
              </a:solidFill>
              <a:prstDash val="solid"/>
              <a:miter/>
            </a:ln>
          </p:spPr>
        </p:sp>
        <p:sp>
          <p:nvSpPr>
            <p:cNvPr name="TextBox 19" id="19"/>
            <p:cNvSpPr txBox="true"/>
            <p:nvPr/>
          </p:nvSpPr>
          <p:spPr>
            <a:xfrm>
              <a:off x="76200" y="28575"/>
              <a:ext cx="660400" cy="708025"/>
            </a:xfrm>
            <a:prstGeom prst="rect">
              <a:avLst/>
            </a:prstGeom>
          </p:spPr>
          <p:txBody>
            <a:bodyPr anchor="ctr" rtlCol="false" tIns="0" lIns="0" bIns="0" rIns="0"/>
            <a:lstStyle/>
            <a:p>
              <a:pPr algn="ctr">
                <a:lnSpc>
                  <a:spcPts val="3640"/>
                </a:lnSpc>
              </a:pPr>
            </a:p>
          </p:txBody>
        </p:sp>
      </p:grpSp>
      <p:sp>
        <p:nvSpPr>
          <p:cNvPr name="Freeform 20" id="20"/>
          <p:cNvSpPr/>
          <p:nvPr/>
        </p:nvSpPr>
        <p:spPr>
          <a:xfrm flipH="false" flipV="false" rot="0">
            <a:off x="10260679" y="7178823"/>
            <a:ext cx="4823991" cy="2502672"/>
          </a:xfrm>
          <a:custGeom>
            <a:avLst/>
            <a:gdLst/>
            <a:ahLst/>
            <a:cxnLst/>
            <a:rect r="r" b="b" t="t" l="l"/>
            <a:pathLst>
              <a:path h="2502672" w="4823991">
                <a:moveTo>
                  <a:pt x="0" y="0"/>
                </a:moveTo>
                <a:lnTo>
                  <a:pt x="4823991" y="0"/>
                </a:lnTo>
                <a:lnTo>
                  <a:pt x="4823991" y="2502672"/>
                </a:lnTo>
                <a:lnTo>
                  <a:pt x="0" y="2502672"/>
                </a:lnTo>
                <a:lnTo>
                  <a:pt x="0" y="0"/>
                </a:lnTo>
                <a:close/>
              </a:path>
            </a:pathLst>
          </a:custGeom>
          <a:blipFill>
            <a:blip r:embed="rId2"/>
            <a:stretch>
              <a:fillRect l="0" t="0" r="0" b="0"/>
            </a:stretch>
          </a:blipFill>
        </p:spPr>
      </p:sp>
      <p:sp>
        <p:nvSpPr>
          <p:cNvPr name="TextBox 21" id="21"/>
          <p:cNvSpPr txBox="true"/>
          <p:nvPr/>
        </p:nvSpPr>
        <p:spPr>
          <a:xfrm rot="0">
            <a:off x="8086048" y="510255"/>
            <a:ext cx="9173252" cy="3536652"/>
          </a:xfrm>
          <a:prstGeom prst="rect">
            <a:avLst/>
          </a:prstGeom>
        </p:spPr>
        <p:txBody>
          <a:bodyPr anchor="t" rtlCol="false" tIns="0" lIns="0" bIns="0" rIns="0">
            <a:spAutoFit/>
          </a:bodyPr>
          <a:lstStyle/>
          <a:p>
            <a:pPr algn="l">
              <a:lnSpc>
                <a:spcPts val="3499"/>
              </a:lnSpc>
            </a:pPr>
            <a:r>
              <a:rPr lang="en-US" sz="2499">
                <a:solidFill>
                  <a:srgbClr val="051D40"/>
                </a:solidFill>
                <a:latin typeface="Times New Roman Bold"/>
                <a:ea typeface="Times New Roman Bold"/>
                <a:cs typeface="Times New Roman Bold"/>
                <a:sym typeface="Times New Roman Bold"/>
              </a:rPr>
              <a:t>B) Throughput Analysis:</a:t>
            </a:r>
          </a:p>
          <a:p>
            <a:pPr algn="l" marL="539749" indent="-269875" lvl="1">
              <a:lnSpc>
                <a:spcPts val="3499"/>
              </a:lnSpc>
              <a:buFont typeface="Arial"/>
              <a:buChar char="•"/>
            </a:pPr>
            <a:r>
              <a:rPr lang="en-US" sz="2499">
                <a:solidFill>
                  <a:srgbClr val="051D40"/>
                </a:solidFill>
                <a:latin typeface="Times New Roman Bold"/>
                <a:ea typeface="Times New Roman Bold"/>
                <a:cs typeface="Times New Roman Bold"/>
                <a:sym typeface="Times New Roman Bold"/>
              </a:rPr>
              <a:t>Objective: </a:t>
            </a:r>
            <a:r>
              <a:rPr lang="en-US" sz="2499">
                <a:solidFill>
                  <a:srgbClr val="051D40"/>
                </a:solidFill>
                <a:latin typeface="Times New Roman"/>
                <a:ea typeface="Times New Roman"/>
                <a:cs typeface="Times New Roman"/>
                <a:sym typeface="Times New Roman"/>
              </a:rPr>
              <a:t>Calculate the 7-day rolling average of throughput (number of events per second).</a:t>
            </a:r>
          </a:p>
          <a:p>
            <a:pPr algn="l" marL="539749" indent="-269875" lvl="1">
              <a:lnSpc>
                <a:spcPts val="3499"/>
              </a:lnSpc>
              <a:buFont typeface="Arial"/>
              <a:buChar char="•"/>
            </a:pPr>
            <a:r>
              <a:rPr lang="en-US" sz="2499">
                <a:solidFill>
                  <a:srgbClr val="051D40"/>
                </a:solidFill>
                <a:latin typeface="Times New Roman Bold"/>
                <a:ea typeface="Times New Roman Bold"/>
                <a:cs typeface="Times New Roman Bold"/>
                <a:sym typeface="Times New Roman Bold"/>
              </a:rPr>
              <a:t>Your Task: </a:t>
            </a:r>
            <a:r>
              <a:rPr lang="en-US" sz="2499">
                <a:solidFill>
                  <a:srgbClr val="051D40"/>
                </a:solidFill>
                <a:latin typeface="Times New Roman"/>
                <a:ea typeface="Times New Roman"/>
                <a:cs typeface="Times New Roman"/>
                <a:sym typeface="Times New Roman"/>
              </a:rPr>
              <a:t>Write an SQL query to calculate the 7-day rolling average of throughput. Additionally, explain whether you prefer using the daily metric or the 7-day rolling average for throughput, and why.</a:t>
            </a:r>
          </a:p>
          <a:p>
            <a:pPr algn="l">
              <a:lnSpc>
                <a:spcPts val="3499"/>
              </a:lnSpc>
            </a:pPr>
          </a:p>
        </p:txBody>
      </p:sp>
      <p:sp>
        <p:nvSpPr>
          <p:cNvPr name="TextBox 22" id="22"/>
          <p:cNvSpPr txBox="true"/>
          <p:nvPr/>
        </p:nvSpPr>
        <p:spPr>
          <a:xfrm rot="0">
            <a:off x="8086048" y="7071559"/>
            <a:ext cx="7937519" cy="469863"/>
          </a:xfrm>
          <a:prstGeom prst="rect">
            <a:avLst/>
          </a:prstGeom>
        </p:spPr>
        <p:txBody>
          <a:bodyPr anchor="t" rtlCol="false" tIns="0" lIns="0" bIns="0" rIns="0">
            <a:spAutoFit/>
          </a:bodyPr>
          <a:lstStyle/>
          <a:p>
            <a:pPr algn="l">
              <a:lnSpc>
                <a:spcPts val="3499"/>
              </a:lnSpc>
            </a:pPr>
            <a:r>
              <a:rPr lang="en-US" sz="2499">
                <a:solidFill>
                  <a:srgbClr val="051D40"/>
                </a:solidFill>
                <a:latin typeface="Times New Roman Bold"/>
                <a:ea typeface="Times New Roman Bold"/>
                <a:cs typeface="Times New Roman Bold"/>
                <a:sym typeface="Times New Roman Bold"/>
              </a:rPr>
              <a:t>Query Result: </a:t>
            </a:r>
          </a:p>
        </p:txBody>
      </p:sp>
      <p:sp>
        <p:nvSpPr>
          <p:cNvPr name="TextBox 23" id="23"/>
          <p:cNvSpPr txBox="true"/>
          <p:nvPr/>
        </p:nvSpPr>
        <p:spPr>
          <a:xfrm rot="0">
            <a:off x="1028700" y="4465258"/>
            <a:ext cx="6486181" cy="890681"/>
          </a:xfrm>
          <a:prstGeom prst="rect">
            <a:avLst/>
          </a:prstGeom>
        </p:spPr>
        <p:txBody>
          <a:bodyPr anchor="t" rtlCol="false" tIns="0" lIns="0" bIns="0" rIns="0">
            <a:spAutoFit/>
          </a:bodyPr>
          <a:lstStyle/>
          <a:p>
            <a:pPr algn="l" marL="0" indent="0" lvl="0">
              <a:lnSpc>
                <a:spcPts val="6553"/>
              </a:lnSpc>
              <a:spcBef>
                <a:spcPct val="0"/>
              </a:spcBef>
            </a:pPr>
            <a:r>
              <a:rPr lang="en-US" sz="4680">
                <a:solidFill>
                  <a:srgbClr val="FDFDFD"/>
                </a:solidFill>
                <a:latin typeface="Times New Roman Bold"/>
                <a:ea typeface="Times New Roman Bold"/>
                <a:cs typeface="Times New Roman Bold"/>
                <a:sym typeface="Times New Roman Bold"/>
              </a:rPr>
              <a:t>SQL Task:</a:t>
            </a:r>
          </a:p>
        </p:txBody>
      </p:sp>
      <p:sp>
        <p:nvSpPr>
          <p:cNvPr name="TextBox 24" id="24"/>
          <p:cNvSpPr txBox="true"/>
          <p:nvPr/>
        </p:nvSpPr>
        <p:spPr>
          <a:xfrm rot="0">
            <a:off x="8086048" y="3764351"/>
            <a:ext cx="7937519" cy="469863"/>
          </a:xfrm>
          <a:prstGeom prst="rect">
            <a:avLst/>
          </a:prstGeom>
        </p:spPr>
        <p:txBody>
          <a:bodyPr anchor="t" rtlCol="false" tIns="0" lIns="0" bIns="0" rIns="0">
            <a:spAutoFit/>
          </a:bodyPr>
          <a:lstStyle/>
          <a:p>
            <a:pPr algn="l">
              <a:lnSpc>
                <a:spcPts val="3499"/>
              </a:lnSpc>
            </a:pPr>
            <a:r>
              <a:rPr lang="en-US" sz="2499">
                <a:solidFill>
                  <a:srgbClr val="051D40"/>
                </a:solidFill>
                <a:latin typeface="Times New Roman Bold"/>
                <a:ea typeface="Times New Roman Bold"/>
                <a:cs typeface="Times New Roman Bold"/>
                <a:sym typeface="Times New Roman Bold"/>
              </a:rPr>
              <a:t>SQL Query:</a:t>
            </a:r>
          </a:p>
        </p:txBody>
      </p:sp>
      <p:sp>
        <p:nvSpPr>
          <p:cNvPr name="TextBox 25" id="25"/>
          <p:cNvSpPr txBox="true"/>
          <p:nvPr/>
        </p:nvSpPr>
        <p:spPr>
          <a:xfrm rot="0">
            <a:off x="8086048" y="4327896"/>
            <a:ext cx="9173252" cy="2660427"/>
          </a:xfrm>
          <a:prstGeom prst="rect">
            <a:avLst/>
          </a:prstGeom>
        </p:spPr>
        <p:txBody>
          <a:bodyPr anchor="t" rtlCol="false" tIns="0" lIns="0" bIns="0" rIns="0">
            <a:spAutoFit/>
          </a:bodyPr>
          <a:lstStyle/>
          <a:p>
            <a:pPr algn="l">
              <a:lnSpc>
                <a:spcPts val="3499"/>
              </a:lnSpc>
            </a:pPr>
            <a:r>
              <a:rPr lang="en-US" sz="2499">
                <a:solidFill>
                  <a:srgbClr val="051D40"/>
                </a:solidFill>
                <a:latin typeface="Times New Roman"/>
                <a:ea typeface="Times New Roman"/>
                <a:cs typeface="Times New Roman"/>
                <a:sym typeface="Times New Roman"/>
              </a:rPr>
              <a:t>select ds,</a:t>
            </a:r>
          </a:p>
          <a:p>
            <a:pPr algn="l">
              <a:lnSpc>
                <a:spcPts val="3499"/>
              </a:lnSpc>
            </a:pPr>
            <a:r>
              <a:rPr lang="en-US" sz="2499">
                <a:solidFill>
                  <a:srgbClr val="051D40"/>
                </a:solidFill>
                <a:latin typeface="Times New Roman"/>
                <a:ea typeface="Times New Roman"/>
                <a:cs typeface="Times New Roman"/>
                <a:sym typeface="Times New Roman"/>
              </a:rPr>
              <a:t>    count(event)/sum(time_spent) as "7-day rolling average of throughput"</a:t>
            </a:r>
          </a:p>
          <a:p>
            <a:pPr algn="l">
              <a:lnSpc>
                <a:spcPts val="3499"/>
              </a:lnSpc>
            </a:pPr>
            <a:r>
              <a:rPr lang="en-US" sz="2499">
                <a:solidFill>
                  <a:srgbClr val="051D40"/>
                </a:solidFill>
                <a:latin typeface="Times New Roman"/>
                <a:ea typeface="Times New Roman"/>
                <a:cs typeface="Times New Roman"/>
                <a:sym typeface="Times New Roman"/>
              </a:rPr>
              <a:t>from job_data</a:t>
            </a:r>
          </a:p>
          <a:p>
            <a:pPr algn="l">
              <a:lnSpc>
                <a:spcPts val="3499"/>
              </a:lnSpc>
            </a:pPr>
            <a:r>
              <a:rPr lang="en-US" sz="2499">
                <a:solidFill>
                  <a:srgbClr val="051D40"/>
                </a:solidFill>
                <a:latin typeface="Times New Roman"/>
                <a:ea typeface="Times New Roman"/>
                <a:cs typeface="Times New Roman"/>
                <a:sym typeface="Times New Roman"/>
              </a:rPr>
              <a:t>group by ds</a:t>
            </a:r>
          </a:p>
          <a:p>
            <a:pPr algn="l">
              <a:lnSpc>
                <a:spcPts val="3499"/>
              </a:lnSpc>
            </a:pPr>
            <a:r>
              <a:rPr lang="en-US" sz="2499">
                <a:solidFill>
                  <a:srgbClr val="051D40"/>
                </a:solidFill>
                <a:latin typeface="Times New Roman"/>
                <a:ea typeface="Times New Roman"/>
                <a:cs typeface="Times New Roman"/>
                <a:sym typeface="Times New Roman"/>
              </a:rPr>
              <a:t>order by ds;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7922514" y="-2630668"/>
            <a:ext cx="15178802" cy="15178802"/>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38100" cap="sq">
              <a:solidFill>
                <a:srgbClr val="145DA0"/>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7503865" y="-1939873"/>
            <a:ext cx="13881919" cy="13881919"/>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6730709" y="2679253"/>
            <a:ext cx="373607" cy="373607"/>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38100" cap="sq">
              <a:solidFill>
                <a:srgbClr val="00569E"/>
              </a:solidFill>
              <a:prstDash val="solid"/>
              <a:miter/>
            </a:ln>
          </p:spPr>
        </p:sp>
        <p:sp>
          <p:nvSpPr>
            <p:cNvPr name="TextBox 10" id="10"/>
            <p:cNvSpPr txBox="true"/>
            <p:nvPr/>
          </p:nvSpPr>
          <p:spPr>
            <a:xfrm>
              <a:off x="76200" y="28575"/>
              <a:ext cx="660400" cy="708025"/>
            </a:xfrm>
            <a:prstGeom prst="rect">
              <a:avLst/>
            </a:prstGeom>
          </p:spPr>
          <p:txBody>
            <a:bodyPr anchor="ctr" rtlCol="false" tIns="0" lIns="0" bIns="0" rIns="0"/>
            <a:lstStyle/>
            <a:p>
              <a:pPr algn="ctr">
                <a:lnSpc>
                  <a:spcPts val="3640"/>
                </a:lnSpc>
              </a:pPr>
            </a:p>
          </p:txBody>
        </p:sp>
      </p:grpSp>
      <p:grpSp>
        <p:nvGrpSpPr>
          <p:cNvPr name="Group 11" id="11"/>
          <p:cNvGrpSpPr/>
          <p:nvPr/>
        </p:nvGrpSpPr>
        <p:grpSpPr>
          <a:xfrm rot="0">
            <a:off x="7045691" y="4244273"/>
            <a:ext cx="373607" cy="373607"/>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38100" cap="sq">
              <a:solidFill>
                <a:srgbClr val="00569E"/>
              </a:solidFill>
              <a:prstDash val="solid"/>
              <a:miter/>
            </a:ln>
          </p:spPr>
        </p:sp>
        <p:sp>
          <p:nvSpPr>
            <p:cNvPr name="TextBox 13" id="13"/>
            <p:cNvSpPr txBox="true"/>
            <p:nvPr/>
          </p:nvSpPr>
          <p:spPr>
            <a:xfrm>
              <a:off x="76200" y="28575"/>
              <a:ext cx="660400" cy="708025"/>
            </a:xfrm>
            <a:prstGeom prst="rect">
              <a:avLst/>
            </a:prstGeom>
          </p:spPr>
          <p:txBody>
            <a:bodyPr anchor="ctr" rtlCol="false" tIns="0" lIns="0" bIns="0" rIns="0"/>
            <a:lstStyle/>
            <a:p>
              <a:pPr algn="ctr">
                <a:lnSpc>
                  <a:spcPts val="3640"/>
                </a:lnSpc>
              </a:pPr>
            </a:p>
          </p:txBody>
        </p:sp>
      </p:grpSp>
      <p:grpSp>
        <p:nvGrpSpPr>
          <p:cNvPr name="Group 14" id="14"/>
          <p:cNvGrpSpPr/>
          <p:nvPr/>
        </p:nvGrpSpPr>
        <p:grpSpPr>
          <a:xfrm rot="0">
            <a:off x="6730709" y="7216397"/>
            <a:ext cx="373607" cy="373607"/>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38100" cap="sq">
              <a:solidFill>
                <a:srgbClr val="00569E"/>
              </a:solidFill>
              <a:prstDash val="solid"/>
              <a:miter/>
            </a:ln>
          </p:spPr>
        </p:sp>
        <p:sp>
          <p:nvSpPr>
            <p:cNvPr name="TextBox 16" id="16"/>
            <p:cNvSpPr txBox="true"/>
            <p:nvPr/>
          </p:nvSpPr>
          <p:spPr>
            <a:xfrm>
              <a:off x="76200" y="28575"/>
              <a:ext cx="660400" cy="708025"/>
            </a:xfrm>
            <a:prstGeom prst="rect">
              <a:avLst/>
            </a:prstGeom>
          </p:spPr>
          <p:txBody>
            <a:bodyPr anchor="ctr" rtlCol="false" tIns="0" lIns="0" bIns="0" rIns="0"/>
            <a:lstStyle/>
            <a:p>
              <a:pPr algn="ctr">
                <a:lnSpc>
                  <a:spcPts val="3640"/>
                </a:lnSpc>
              </a:pPr>
            </a:p>
          </p:txBody>
        </p:sp>
      </p:grpSp>
      <p:grpSp>
        <p:nvGrpSpPr>
          <p:cNvPr name="Group 17" id="17"/>
          <p:cNvGrpSpPr/>
          <p:nvPr/>
        </p:nvGrpSpPr>
        <p:grpSpPr>
          <a:xfrm rot="0">
            <a:off x="7045691" y="5569577"/>
            <a:ext cx="373607" cy="373607"/>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38100" cap="sq">
              <a:solidFill>
                <a:srgbClr val="00569E"/>
              </a:solidFill>
              <a:prstDash val="solid"/>
              <a:miter/>
            </a:ln>
          </p:spPr>
        </p:sp>
        <p:sp>
          <p:nvSpPr>
            <p:cNvPr name="TextBox 19" id="19"/>
            <p:cNvSpPr txBox="true"/>
            <p:nvPr/>
          </p:nvSpPr>
          <p:spPr>
            <a:xfrm>
              <a:off x="76200" y="28575"/>
              <a:ext cx="660400" cy="708025"/>
            </a:xfrm>
            <a:prstGeom prst="rect">
              <a:avLst/>
            </a:prstGeom>
          </p:spPr>
          <p:txBody>
            <a:bodyPr anchor="ctr" rtlCol="false" tIns="0" lIns="0" bIns="0" rIns="0"/>
            <a:lstStyle/>
            <a:p>
              <a:pPr algn="ctr">
                <a:lnSpc>
                  <a:spcPts val="3640"/>
                </a:lnSpc>
              </a:pPr>
            </a:p>
          </p:txBody>
        </p:sp>
      </p:grpSp>
      <p:sp>
        <p:nvSpPr>
          <p:cNvPr name="Freeform 20" id="20"/>
          <p:cNvSpPr/>
          <p:nvPr/>
        </p:nvSpPr>
        <p:spPr>
          <a:xfrm flipH="false" flipV="false" rot="0">
            <a:off x="10399068" y="6761766"/>
            <a:ext cx="3981545" cy="2782800"/>
          </a:xfrm>
          <a:custGeom>
            <a:avLst/>
            <a:gdLst/>
            <a:ahLst/>
            <a:cxnLst/>
            <a:rect r="r" b="b" t="t" l="l"/>
            <a:pathLst>
              <a:path h="2782800" w="3981545">
                <a:moveTo>
                  <a:pt x="0" y="0"/>
                </a:moveTo>
                <a:lnTo>
                  <a:pt x="3981545" y="0"/>
                </a:lnTo>
                <a:lnTo>
                  <a:pt x="3981545" y="2782800"/>
                </a:lnTo>
                <a:lnTo>
                  <a:pt x="0" y="2782800"/>
                </a:lnTo>
                <a:lnTo>
                  <a:pt x="0" y="0"/>
                </a:lnTo>
                <a:close/>
              </a:path>
            </a:pathLst>
          </a:custGeom>
          <a:blipFill>
            <a:blip r:embed="rId2"/>
            <a:stretch>
              <a:fillRect l="0" t="0" r="0" b="0"/>
            </a:stretch>
          </a:blipFill>
        </p:spPr>
      </p:sp>
      <p:sp>
        <p:nvSpPr>
          <p:cNvPr name="TextBox 21" id="21"/>
          <p:cNvSpPr txBox="true"/>
          <p:nvPr/>
        </p:nvSpPr>
        <p:spPr>
          <a:xfrm rot="0">
            <a:off x="8086048" y="647184"/>
            <a:ext cx="9052147" cy="2222314"/>
          </a:xfrm>
          <a:prstGeom prst="rect">
            <a:avLst/>
          </a:prstGeom>
        </p:spPr>
        <p:txBody>
          <a:bodyPr anchor="t" rtlCol="false" tIns="0" lIns="0" bIns="0" rIns="0">
            <a:spAutoFit/>
          </a:bodyPr>
          <a:lstStyle/>
          <a:p>
            <a:pPr algn="l">
              <a:lnSpc>
                <a:spcPts val="3499"/>
              </a:lnSpc>
            </a:pPr>
            <a:r>
              <a:rPr lang="en-US" sz="2499">
                <a:solidFill>
                  <a:srgbClr val="051D40"/>
                </a:solidFill>
                <a:latin typeface="Times New Roman Bold"/>
                <a:ea typeface="Times New Roman Bold"/>
                <a:cs typeface="Times New Roman Bold"/>
                <a:sym typeface="Times New Roman Bold"/>
              </a:rPr>
              <a:t>C) Language Share Analysis:</a:t>
            </a:r>
          </a:p>
          <a:p>
            <a:pPr algn="l" marL="539749" indent="-269875" lvl="1">
              <a:lnSpc>
                <a:spcPts val="3499"/>
              </a:lnSpc>
              <a:buFont typeface="Arial"/>
              <a:buChar char="•"/>
            </a:pPr>
            <a:r>
              <a:rPr lang="en-US" sz="2499">
                <a:solidFill>
                  <a:srgbClr val="051D40"/>
                </a:solidFill>
                <a:latin typeface="Times New Roman Bold"/>
                <a:ea typeface="Times New Roman Bold"/>
                <a:cs typeface="Times New Roman Bold"/>
                <a:sym typeface="Times New Roman Bold"/>
              </a:rPr>
              <a:t>Objective: </a:t>
            </a:r>
            <a:r>
              <a:rPr lang="en-US" sz="2499">
                <a:solidFill>
                  <a:srgbClr val="051D40"/>
                </a:solidFill>
                <a:latin typeface="Times New Roman"/>
                <a:ea typeface="Times New Roman"/>
                <a:cs typeface="Times New Roman"/>
                <a:sym typeface="Times New Roman"/>
              </a:rPr>
              <a:t>Calculate the percentage share of each language in the last 30 days.</a:t>
            </a:r>
          </a:p>
          <a:p>
            <a:pPr algn="l" marL="539749" indent="-269875" lvl="1">
              <a:lnSpc>
                <a:spcPts val="3499"/>
              </a:lnSpc>
              <a:buFont typeface="Arial"/>
              <a:buChar char="•"/>
            </a:pPr>
            <a:r>
              <a:rPr lang="en-US" sz="2499">
                <a:solidFill>
                  <a:srgbClr val="051D40"/>
                </a:solidFill>
                <a:latin typeface="Times New Roman Bold"/>
                <a:ea typeface="Times New Roman Bold"/>
                <a:cs typeface="Times New Roman Bold"/>
                <a:sym typeface="Times New Roman Bold"/>
              </a:rPr>
              <a:t>Your Task: </a:t>
            </a:r>
            <a:r>
              <a:rPr lang="en-US" sz="2499">
                <a:solidFill>
                  <a:srgbClr val="051D40"/>
                </a:solidFill>
                <a:latin typeface="Times New Roman"/>
                <a:ea typeface="Times New Roman"/>
                <a:cs typeface="Times New Roman"/>
                <a:sym typeface="Times New Roman"/>
              </a:rPr>
              <a:t>Write an SQL query to calculate the percentage share of each language over the last 30 days.</a:t>
            </a:r>
          </a:p>
        </p:txBody>
      </p:sp>
      <p:sp>
        <p:nvSpPr>
          <p:cNvPr name="TextBox 22" id="22"/>
          <p:cNvSpPr txBox="true"/>
          <p:nvPr/>
        </p:nvSpPr>
        <p:spPr>
          <a:xfrm rot="0">
            <a:off x="1028700" y="4436905"/>
            <a:ext cx="6486181" cy="890681"/>
          </a:xfrm>
          <a:prstGeom prst="rect">
            <a:avLst/>
          </a:prstGeom>
        </p:spPr>
        <p:txBody>
          <a:bodyPr anchor="t" rtlCol="false" tIns="0" lIns="0" bIns="0" rIns="0">
            <a:spAutoFit/>
          </a:bodyPr>
          <a:lstStyle/>
          <a:p>
            <a:pPr algn="l" marL="0" indent="0" lvl="0">
              <a:lnSpc>
                <a:spcPts val="6553"/>
              </a:lnSpc>
              <a:spcBef>
                <a:spcPct val="0"/>
              </a:spcBef>
            </a:pPr>
            <a:r>
              <a:rPr lang="en-US" sz="4680">
                <a:solidFill>
                  <a:srgbClr val="FDFDFD"/>
                </a:solidFill>
                <a:latin typeface="Times New Roman Bold"/>
                <a:ea typeface="Times New Roman Bold"/>
                <a:cs typeface="Times New Roman Bold"/>
                <a:sym typeface="Times New Roman Bold"/>
              </a:rPr>
              <a:t>SQL Task:</a:t>
            </a:r>
          </a:p>
        </p:txBody>
      </p:sp>
      <p:sp>
        <p:nvSpPr>
          <p:cNvPr name="TextBox 23" id="23"/>
          <p:cNvSpPr txBox="true"/>
          <p:nvPr/>
        </p:nvSpPr>
        <p:spPr>
          <a:xfrm rot="0">
            <a:off x="8168521" y="6666516"/>
            <a:ext cx="7937519" cy="469863"/>
          </a:xfrm>
          <a:prstGeom prst="rect">
            <a:avLst/>
          </a:prstGeom>
        </p:spPr>
        <p:txBody>
          <a:bodyPr anchor="t" rtlCol="false" tIns="0" lIns="0" bIns="0" rIns="0">
            <a:spAutoFit/>
          </a:bodyPr>
          <a:lstStyle/>
          <a:p>
            <a:pPr algn="l">
              <a:lnSpc>
                <a:spcPts val="3499"/>
              </a:lnSpc>
            </a:pPr>
            <a:r>
              <a:rPr lang="en-US" sz="2499">
                <a:solidFill>
                  <a:srgbClr val="051D40"/>
                </a:solidFill>
                <a:latin typeface="Times New Roman Bold"/>
                <a:ea typeface="Times New Roman Bold"/>
                <a:cs typeface="Times New Roman Bold"/>
                <a:sym typeface="Times New Roman Bold"/>
              </a:rPr>
              <a:t>Query Result: </a:t>
            </a:r>
          </a:p>
        </p:txBody>
      </p:sp>
      <p:sp>
        <p:nvSpPr>
          <p:cNvPr name="TextBox 24" id="24"/>
          <p:cNvSpPr txBox="true"/>
          <p:nvPr/>
        </p:nvSpPr>
        <p:spPr>
          <a:xfrm rot="0">
            <a:off x="8086048" y="2955223"/>
            <a:ext cx="7937519" cy="469863"/>
          </a:xfrm>
          <a:prstGeom prst="rect">
            <a:avLst/>
          </a:prstGeom>
        </p:spPr>
        <p:txBody>
          <a:bodyPr anchor="t" rtlCol="false" tIns="0" lIns="0" bIns="0" rIns="0">
            <a:spAutoFit/>
          </a:bodyPr>
          <a:lstStyle/>
          <a:p>
            <a:pPr algn="l">
              <a:lnSpc>
                <a:spcPts val="3499"/>
              </a:lnSpc>
            </a:pPr>
            <a:r>
              <a:rPr lang="en-US" sz="2499">
                <a:solidFill>
                  <a:srgbClr val="051D40"/>
                </a:solidFill>
                <a:latin typeface="Times New Roman Bold"/>
                <a:ea typeface="Times New Roman Bold"/>
                <a:cs typeface="Times New Roman Bold"/>
                <a:sym typeface="Times New Roman Bold"/>
              </a:rPr>
              <a:t>SQL Query:</a:t>
            </a:r>
          </a:p>
        </p:txBody>
      </p:sp>
      <p:sp>
        <p:nvSpPr>
          <p:cNvPr name="TextBox 25" id="25"/>
          <p:cNvSpPr txBox="true"/>
          <p:nvPr/>
        </p:nvSpPr>
        <p:spPr>
          <a:xfrm rot="0">
            <a:off x="8086048" y="3482251"/>
            <a:ext cx="9173252" cy="3098540"/>
          </a:xfrm>
          <a:prstGeom prst="rect">
            <a:avLst/>
          </a:prstGeom>
        </p:spPr>
        <p:txBody>
          <a:bodyPr anchor="t" rtlCol="false" tIns="0" lIns="0" bIns="0" rIns="0">
            <a:spAutoFit/>
          </a:bodyPr>
          <a:lstStyle/>
          <a:p>
            <a:pPr algn="l">
              <a:lnSpc>
                <a:spcPts val="3499"/>
              </a:lnSpc>
            </a:pPr>
            <a:r>
              <a:rPr lang="en-US" sz="2499">
                <a:solidFill>
                  <a:srgbClr val="051D40"/>
                </a:solidFill>
                <a:latin typeface="Times New Roman"/>
                <a:ea typeface="Times New Roman"/>
                <a:cs typeface="Times New Roman"/>
                <a:sym typeface="Times New Roman"/>
              </a:rPr>
              <a:t>select language as Language,</a:t>
            </a:r>
          </a:p>
          <a:p>
            <a:pPr algn="l">
              <a:lnSpc>
                <a:spcPts val="3499"/>
              </a:lnSpc>
            </a:pPr>
            <a:r>
              <a:rPr lang="en-US" sz="2499">
                <a:solidFill>
                  <a:srgbClr val="051D40"/>
                </a:solidFill>
                <a:latin typeface="Times New Roman"/>
                <a:ea typeface="Times New Roman"/>
                <a:cs typeface="Times New Roman"/>
                <a:sym typeface="Times New Roman"/>
              </a:rPr>
              <a:t>    round(100 * count(*) / total , 2) as Percentage, sub.total</a:t>
            </a:r>
          </a:p>
          <a:p>
            <a:pPr algn="l">
              <a:lnSpc>
                <a:spcPts val="3499"/>
              </a:lnSpc>
            </a:pPr>
            <a:r>
              <a:rPr lang="en-US" sz="2499">
                <a:solidFill>
                  <a:srgbClr val="051D40"/>
                </a:solidFill>
                <a:latin typeface="Times New Roman"/>
                <a:ea typeface="Times New Roman"/>
                <a:cs typeface="Times New Roman"/>
                <a:sym typeface="Times New Roman"/>
              </a:rPr>
              <a:t>from job_data</a:t>
            </a:r>
          </a:p>
          <a:p>
            <a:pPr algn="l">
              <a:lnSpc>
                <a:spcPts val="3499"/>
              </a:lnSpc>
            </a:pPr>
            <a:r>
              <a:rPr lang="en-US" sz="2499">
                <a:solidFill>
                  <a:srgbClr val="051D40"/>
                </a:solidFill>
                <a:latin typeface="Times New Roman"/>
                <a:ea typeface="Times New Roman"/>
                <a:cs typeface="Times New Roman"/>
                <a:sym typeface="Times New Roman"/>
              </a:rPr>
              <a:t>cross join ( </a:t>
            </a:r>
          </a:p>
          <a:p>
            <a:pPr algn="l">
              <a:lnSpc>
                <a:spcPts val="3499"/>
              </a:lnSpc>
            </a:pPr>
            <a:r>
              <a:rPr lang="en-US" sz="2499">
                <a:solidFill>
                  <a:srgbClr val="051D40"/>
                </a:solidFill>
                <a:latin typeface="Times New Roman"/>
                <a:ea typeface="Times New Roman"/>
                <a:cs typeface="Times New Roman"/>
                <a:sym typeface="Times New Roman"/>
              </a:rPr>
              <a:t> select count(*) as Total </a:t>
            </a:r>
          </a:p>
          <a:p>
            <a:pPr algn="l">
              <a:lnSpc>
                <a:spcPts val="3499"/>
              </a:lnSpc>
            </a:pPr>
            <a:r>
              <a:rPr lang="en-US" sz="2499">
                <a:solidFill>
                  <a:srgbClr val="051D40"/>
                </a:solidFill>
                <a:latin typeface="Times New Roman"/>
                <a:ea typeface="Times New Roman"/>
                <a:cs typeface="Times New Roman"/>
                <a:sym typeface="Times New Roman"/>
              </a:rPr>
              <a:t> from job_data ) as sub</a:t>
            </a:r>
          </a:p>
          <a:p>
            <a:pPr algn="l">
              <a:lnSpc>
                <a:spcPts val="3499"/>
              </a:lnSpc>
            </a:pPr>
            <a:r>
              <a:rPr lang="en-US" sz="2499">
                <a:solidFill>
                  <a:srgbClr val="051D40"/>
                </a:solidFill>
                <a:latin typeface="Times New Roman"/>
                <a:ea typeface="Times New Roman"/>
                <a:cs typeface="Times New Roman"/>
                <a:sym typeface="Times New Roman"/>
              </a:rPr>
              <a:t> group by language, sub.total;</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7922514" y="-2630668"/>
            <a:ext cx="15178802" cy="15178802"/>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38100" cap="sq">
              <a:solidFill>
                <a:srgbClr val="145DA0"/>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7503865" y="-1939873"/>
            <a:ext cx="13881919" cy="13881919"/>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6730709" y="2679253"/>
            <a:ext cx="373607" cy="373607"/>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38100" cap="sq">
              <a:solidFill>
                <a:srgbClr val="00569E"/>
              </a:solidFill>
              <a:prstDash val="solid"/>
              <a:miter/>
            </a:ln>
          </p:spPr>
        </p:sp>
        <p:sp>
          <p:nvSpPr>
            <p:cNvPr name="TextBox 10" id="10"/>
            <p:cNvSpPr txBox="true"/>
            <p:nvPr/>
          </p:nvSpPr>
          <p:spPr>
            <a:xfrm>
              <a:off x="76200" y="28575"/>
              <a:ext cx="660400" cy="708025"/>
            </a:xfrm>
            <a:prstGeom prst="rect">
              <a:avLst/>
            </a:prstGeom>
          </p:spPr>
          <p:txBody>
            <a:bodyPr anchor="ctr" rtlCol="false" tIns="0" lIns="0" bIns="0" rIns="0"/>
            <a:lstStyle/>
            <a:p>
              <a:pPr algn="ctr">
                <a:lnSpc>
                  <a:spcPts val="3640"/>
                </a:lnSpc>
              </a:pPr>
            </a:p>
          </p:txBody>
        </p:sp>
      </p:grpSp>
      <p:grpSp>
        <p:nvGrpSpPr>
          <p:cNvPr name="Group 11" id="11"/>
          <p:cNvGrpSpPr/>
          <p:nvPr/>
        </p:nvGrpSpPr>
        <p:grpSpPr>
          <a:xfrm rot="0">
            <a:off x="7045691" y="4244273"/>
            <a:ext cx="373607" cy="373607"/>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38100" cap="sq">
              <a:solidFill>
                <a:srgbClr val="00569E"/>
              </a:solidFill>
              <a:prstDash val="solid"/>
              <a:miter/>
            </a:ln>
          </p:spPr>
        </p:sp>
        <p:sp>
          <p:nvSpPr>
            <p:cNvPr name="TextBox 13" id="13"/>
            <p:cNvSpPr txBox="true"/>
            <p:nvPr/>
          </p:nvSpPr>
          <p:spPr>
            <a:xfrm>
              <a:off x="76200" y="28575"/>
              <a:ext cx="660400" cy="708025"/>
            </a:xfrm>
            <a:prstGeom prst="rect">
              <a:avLst/>
            </a:prstGeom>
          </p:spPr>
          <p:txBody>
            <a:bodyPr anchor="ctr" rtlCol="false" tIns="0" lIns="0" bIns="0" rIns="0"/>
            <a:lstStyle/>
            <a:p>
              <a:pPr algn="ctr">
                <a:lnSpc>
                  <a:spcPts val="3640"/>
                </a:lnSpc>
              </a:pPr>
            </a:p>
          </p:txBody>
        </p:sp>
      </p:grpSp>
      <p:grpSp>
        <p:nvGrpSpPr>
          <p:cNvPr name="Group 14" id="14"/>
          <p:cNvGrpSpPr/>
          <p:nvPr/>
        </p:nvGrpSpPr>
        <p:grpSpPr>
          <a:xfrm rot="0">
            <a:off x="6730709" y="7216397"/>
            <a:ext cx="373607" cy="373607"/>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38100" cap="sq">
              <a:solidFill>
                <a:srgbClr val="00569E"/>
              </a:solidFill>
              <a:prstDash val="solid"/>
              <a:miter/>
            </a:ln>
          </p:spPr>
        </p:sp>
        <p:sp>
          <p:nvSpPr>
            <p:cNvPr name="TextBox 16" id="16"/>
            <p:cNvSpPr txBox="true"/>
            <p:nvPr/>
          </p:nvSpPr>
          <p:spPr>
            <a:xfrm>
              <a:off x="76200" y="28575"/>
              <a:ext cx="660400" cy="708025"/>
            </a:xfrm>
            <a:prstGeom prst="rect">
              <a:avLst/>
            </a:prstGeom>
          </p:spPr>
          <p:txBody>
            <a:bodyPr anchor="ctr" rtlCol="false" tIns="0" lIns="0" bIns="0" rIns="0"/>
            <a:lstStyle/>
            <a:p>
              <a:pPr algn="ctr">
                <a:lnSpc>
                  <a:spcPts val="3640"/>
                </a:lnSpc>
              </a:pPr>
            </a:p>
          </p:txBody>
        </p:sp>
      </p:grpSp>
      <p:grpSp>
        <p:nvGrpSpPr>
          <p:cNvPr name="Group 17" id="17"/>
          <p:cNvGrpSpPr/>
          <p:nvPr/>
        </p:nvGrpSpPr>
        <p:grpSpPr>
          <a:xfrm rot="0">
            <a:off x="7045691" y="5569577"/>
            <a:ext cx="373607" cy="373607"/>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38100" cap="sq">
              <a:solidFill>
                <a:srgbClr val="00569E"/>
              </a:solidFill>
              <a:prstDash val="solid"/>
              <a:miter/>
            </a:ln>
          </p:spPr>
        </p:sp>
        <p:sp>
          <p:nvSpPr>
            <p:cNvPr name="TextBox 19" id="19"/>
            <p:cNvSpPr txBox="true"/>
            <p:nvPr/>
          </p:nvSpPr>
          <p:spPr>
            <a:xfrm>
              <a:off x="76200" y="28575"/>
              <a:ext cx="660400" cy="708025"/>
            </a:xfrm>
            <a:prstGeom prst="rect">
              <a:avLst/>
            </a:prstGeom>
          </p:spPr>
          <p:txBody>
            <a:bodyPr anchor="ctr" rtlCol="false" tIns="0" lIns="0" bIns="0" rIns="0"/>
            <a:lstStyle/>
            <a:p>
              <a:pPr algn="ctr">
                <a:lnSpc>
                  <a:spcPts val="3640"/>
                </a:lnSpc>
              </a:pPr>
            </a:p>
          </p:txBody>
        </p:sp>
      </p:grpSp>
      <p:sp>
        <p:nvSpPr>
          <p:cNvPr name="Freeform 20" id="20"/>
          <p:cNvSpPr/>
          <p:nvPr/>
        </p:nvSpPr>
        <p:spPr>
          <a:xfrm flipH="false" flipV="false" rot="0">
            <a:off x="8165820" y="7181127"/>
            <a:ext cx="3118509" cy="1172559"/>
          </a:xfrm>
          <a:custGeom>
            <a:avLst/>
            <a:gdLst/>
            <a:ahLst/>
            <a:cxnLst/>
            <a:rect r="r" b="b" t="t" l="l"/>
            <a:pathLst>
              <a:path h="1172559" w="3118509">
                <a:moveTo>
                  <a:pt x="0" y="0"/>
                </a:moveTo>
                <a:lnTo>
                  <a:pt x="3118509" y="0"/>
                </a:lnTo>
                <a:lnTo>
                  <a:pt x="3118509" y="1172559"/>
                </a:lnTo>
                <a:lnTo>
                  <a:pt x="0" y="1172559"/>
                </a:lnTo>
                <a:lnTo>
                  <a:pt x="0" y="0"/>
                </a:lnTo>
                <a:close/>
              </a:path>
            </a:pathLst>
          </a:custGeom>
          <a:blipFill>
            <a:blip r:embed="rId2"/>
            <a:stretch>
              <a:fillRect l="0" t="0" r="0" b="0"/>
            </a:stretch>
          </a:blipFill>
        </p:spPr>
      </p:sp>
      <p:sp>
        <p:nvSpPr>
          <p:cNvPr name="TextBox 21" id="21"/>
          <p:cNvSpPr txBox="true"/>
          <p:nvPr/>
        </p:nvSpPr>
        <p:spPr>
          <a:xfrm rot="0">
            <a:off x="8086048" y="1838064"/>
            <a:ext cx="9052147" cy="1784201"/>
          </a:xfrm>
          <a:prstGeom prst="rect">
            <a:avLst/>
          </a:prstGeom>
        </p:spPr>
        <p:txBody>
          <a:bodyPr anchor="t" rtlCol="false" tIns="0" lIns="0" bIns="0" rIns="0">
            <a:spAutoFit/>
          </a:bodyPr>
          <a:lstStyle/>
          <a:p>
            <a:pPr algn="l">
              <a:lnSpc>
                <a:spcPts val="3499"/>
              </a:lnSpc>
            </a:pPr>
            <a:r>
              <a:rPr lang="en-US" sz="2499">
                <a:solidFill>
                  <a:srgbClr val="051D40"/>
                </a:solidFill>
                <a:latin typeface="Times New Roman Bold"/>
                <a:ea typeface="Times New Roman Bold"/>
                <a:cs typeface="Times New Roman Bold"/>
                <a:sym typeface="Times New Roman Bold"/>
              </a:rPr>
              <a:t>D) Duplicate Rows Detection:</a:t>
            </a:r>
          </a:p>
          <a:p>
            <a:pPr algn="l" marL="539749" indent="-269875" lvl="1">
              <a:lnSpc>
                <a:spcPts val="3499"/>
              </a:lnSpc>
              <a:buFont typeface="Arial"/>
              <a:buChar char="•"/>
            </a:pPr>
            <a:r>
              <a:rPr lang="en-US" sz="2499">
                <a:solidFill>
                  <a:srgbClr val="051D40"/>
                </a:solidFill>
                <a:latin typeface="Times New Roman Bold"/>
                <a:ea typeface="Times New Roman Bold"/>
                <a:cs typeface="Times New Roman Bold"/>
                <a:sym typeface="Times New Roman Bold"/>
              </a:rPr>
              <a:t>Objective: </a:t>
            </a:r>
            <a:r>
              <a:rPr lang="en-US" sz="2499">
                <a:solidFill>
                  <a:srgbClr val="051D40"/>
                </a:solidFill>
                <a:latin typeface="Times New Roman"/>
                <a:ea typeface="Times New Roman"/>
                <a:cs typeface="Times New Roman"/>
                <a:sym typeface="Times New Roman"/>
              </a:rPr>
              <a:t>Identify duplicate rows in the data.</a:t>
            </a:r>
          </a:p>
          <a:p>
            <a:pPr algn="l" marL="539749" indent="-269875" lvl="1">
              <a:lnSpc>
                <a:spcPts val="3499"/>
              </a:lnSpc>
              <a:buFont typeface="Arial"/>
              <a:buChar char="•"/>
            </a:pPr>
            <a:r>
              <a:rPr lang="en-US" sz="2499">
                <a:solidFill>
                  <a:srgbClr val="051D40"/>
                </a:solidFill>
                <a:latin typeface="Times New Roman Bold"/>
                <a:ea typeface="Times New Roman Bold"/>
                <a:cs typeface="Times New Roman Bold"/>
                <a:sym typeface="Times New Roman Bold"/>
              </a:rPr>
              <a:t>Your Task: </a:t>
            </a:r>
            <a:r>
              <a:rPr lang="en-US" sz="2499">
                <a:solidFill>
                  <a:srgbClr val="051D40"/>
                </a:solidFill>
                <a:latin typeface="Times New Roman"/>
                <a:ea typeface="Times New Roman"/>
                <a:cs typeface="Times New Roman"/>
                <a:sym typeface="Times New Roman"/>
              </a:rPr>
              <a:t>Write an SQL query to display duplicate rows from the job_data table.</a:t>
            </a:r>
          </a:p>
        </p:txBody>
      </p:sp>
      <p:sp>
        <p:nvSpPr>
          <p:cNvPr name="TextBox 22" id="22"/>
          <p:cNvSpPr txBox="true"/>
          <p:nvPr/>
        </p:nvSpPr>
        <p:spPr>
          <a:xfrm rot="0">
            <a:off x="1028700" y="4436905"/>
            <a:ext cx="6486181" cy="890681"/>
          </a:xfrm>
          <a:prstGeom prst="rect">
            <a:avLst/>
          </a:prstGeom>
        </p:spPr>
        <p:txBody>
          <a:bodyPr anchor="t" rtlCol="false" tIns="0" lIns="0" bIns="0" rIns="0">
            <a:spAutoFit/>
          </a:bodyPr>
          <a:lstStyle/>
          <a:p>
            <a:pPr algn="l" marL="0" indent="0" lvl="0">
              <a:lnSpc>
                <a:spcPts val="6553"/>
              </a:lnSpc>
              <a:spcBef>
                <a:spcPct val="0"/>
              </a:spcBef>
            </a:pPr>
            <a:r>
              <a:rPr lang="en-US" sz="4680">
                <a:solidFill>
                  <a:srgbClr val="FDFDFD"/>
                </a:solidFill>
                <a:latin typeface="Times New Roman Bold"/>
                <a:ea typeface="Times New Roman Bold"/>
                <a:cs typeface="Times New Roman Bold"/>
                <a:sym typeface="Times New Roman Bold"/>
              </a:rPr>
              <a:t>SQL Task:</a:t>
            </a:r>
          </a:p>
        </p:txBody>
      </p:sp>
      <p:sp>
        <p:nvSpPr>
          <p:cNvPr name="TextBox 23" id="23"/>
          <p:cNvSpPr txBox="true"/>
          <p:nvPr/>
        </p:nvSpPr>
        <p:spPr>
          <a:xfrm rot="0">
            <a:off x="8086048" y="6558864"/>
            <a:ext cx="7937519" cy="469863"/>
          </a:xfrm>
          <a:prstGeom prst="rect">
            <a:avLst/>
          </a:prstGeom>
        </p:spPr>
        <p:txBody>
          <a:bodyPr anchor="t" rtlCol="false" tIns="0" lIns="0" bIns="0" rIns="0">
            <a:spAutoFit/>
          </a:bodyPr>
          <a:lstStyle/>
          <a:p>
            <a:pPr algn="l">
              <a:lnSpc>
                <a:spcPts val="3499"/>
              </a:lnSpc>
            </a:pPr>
            <a:r>
              <a:rPr lang="en-US" sz="2499">
                <a:solidFill>
                  <a:srgbClr val="051D40"/>
                </a:solidFill>
                <a:latin typeface="Times New Roman Bold"/>
                <a:ea typeface="Times New Roman Bold"/>
                <a:cs typeface="Times New Roman Bold"/>
                <a:sym typeface="Times New Roman Bold"/>
              </a:rPr>
              <a:t>Query Result: </a:t>
            </a:r>
          </a:p>
        </p:txBody>
      </p:sp>
      <p:sp>
        <p:nvSpPr>
          <p:cNvPr name="TextBox 24" id="24"/>
          <p:cNvSpPr txBox="true"/>
          <p:nvPr/>
        </p:nvSpPr>
        <p:spPr>
          <a:xfrm rot="0">
            <a:off x="8086048" y="3714272"/>
            <a:ext cx="7937519" cy="469863"/>
          </a:xfrm>
          <a:prstGeom prst="rect">
            <a:avLst/>
          </a:prstGeom>
        </p:spPr>
        <p:txBody>
          <a:bodyPr anchor="t" rtlCol="false" tIns="0" lIns="0" bIns="0" rIns="0">
            <a:spAutoFit/>
          </a:bodyPr>
          <a:lstStyle/>
          <a:p>
            <a:pPr algn="l">
              <a:lnSpc>
                <a:spcPts val="3499"/>
              </a:lnSpc>
            </a:pPr>
            <a:r>
              <a:rPr lang="en-US" sz="2499">
                <a:solidFill>
                  <a:srgbClr val="051D40"/>
                </a:solidFill>
                <a:latin typeface="Times New Roman Bold"/>
                <a:ea typeface="Times New Roman Bold"/>
                <a:cs typeface="Times New Roman Bold"/>
                <a:sym typeface="Times New Roman Bold"/>
              </a:rPr>
              <a:t>SQL Query:</a:t>
            </a:r>
          </a:p>
        </p:txBody>
      </p:sp>
      <p:sp>
        <p:nvSpPr>
          <p:cNvPr name="TextBox 25" id="25"/>
          <p:cNvSpPr txBox="true"/>
          <p:nvPr/>
        </p:nvSpPr>
        <p:spPr>
          <a:xfrm rot="0">
            <a:off x="8086048" y="4241300"/>
            <a:ext cx="9173252" cy="2222314"/>
          </a:xfrm>
          <a:prstGeom prst="rect">
            <a:avLst/>
          </a:prstGeom>
        </p:spPr>
        <p:txBody>
          <a:bodyPr anchor="t" rtlCol="false" tIns="0" lIns="0" bIns="0" rIns="0">
            <a:spAutoFit/>
          </a:bodyPr>
          <a:lstStyle/>
          <a:p>
            <a:pPr algn="l">
              <a:lnSpc>
                <a:spcPts val="3499"/>
              </a:lnSpc>
            </a:pPr>
            <a:r>
              <a:rPr lang="en-US" sz="2499">
                <a:solidFill>
                  <a:srgbClr val="051D40"/>
                </a:solidFill>
                <a:latin typeface="Times New Roman"/>
                <a:ea typeface="Times New Roman"/>
                <a:cs typeface="Times New Roman"/>
                <a:sym typeface="Times New Roman"/>
              </a:rPr>
              <a:t>select actor_id, </a:t>
            </a:r>
          </a:p>
          <a:p>
            <a:pPr algn="l">
              <a:lnSpc>
                <a:spcPts val="3499"/>
              </a:lnSpc>
            </a:pPr>
            <a:r>
              <a:rPr lang="en-US" sz="2499">
                <a:solidFill>
                  <a:srgbClr val="051D40"/>
                </a:solidFill>
                <a:latin typeface="Times New Roman"/>
                <a:ea typeface="Times New Roman"/>
                <a:cs typeface="Times New Roman"/>
                <a:sym typeface="Times New Roman"/>
              </a:rPr>
              <a:t>    count(*) as duplicate </a:t>
            </a:r>
          </a:p>
          <a:p>
            <a:pPr algn="l">
              <a:lnSpc>
                <a:spcPts val="3499"/>
              </a:lnSpc>
            </a:pPr>
            <a:r>
              <a:rPr lang="en-US" sz="2499">
                <a:solidFill>
                  <a:srgbClr val="051D40"/>
                </a:solidFill>
                <a:latin typeface="Times New Roman"/>
                <a:ea typeface="Times New Roman"/>
                <a:cs typeface="Times New Roman"/>
                <a:sym typeface="Times New Roman"/>
              </a:rPr>
              <a:t>from job_data</a:t>
            </a:r>
          </a:p>
          <a:p>
            <a:pPr algn="l">
              <a:lnSpc>
                <a:spcPts val="3499"/>
              </a:lnSpc>
            </a:pPr>
            <a:r>
              <a:rPr lang="en-US" sz="2499">
                <a:solidFill>
                  <a:srgbClr val="051D40"/>
                </a:solidFill>
                <a:latin typeface="Times New Roman"/>
                <a:ea typeface="Times New Roman"/>
                <a:cs typeface="Times New Roman"/>
                <a:sym typeface="Times New Roman"/>
              </a:rPr>
              <a:t>group by actor_id</a:t>
            </a:r>
          </a:p>
          <a:p>
            <a:pPr algn="l">
              <a:lnSpc>
                <a:spcPts val="3499"/>
              </a:lnSpc>
            </a:pPr>
            <a:r>
              <a:rPr lang="en-US" sz="2499">
                <a:solidFill>
                  <a:srgbClr val="051D40"/>
                </a:solidFill>
                <a:latin typeface="Times New Roman"/>
                <a:ea typeface="Times New Roman"/>
                <a:cs typeface="Times New Roman"/>
                <a:sym typeface="Times New Roman"/>
              </a:rPr>
              <a:t>having count(*) &gt; 1 ;</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7922514" y="-2630668"/>
            <a:ext cx="15178802" cy="15178802"/>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38100" cap="sq">
              <a:solidFill>
                <a:srgbClr val="145DA0"/>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7503865" y="-1939873"/>
            <a:ext cx="13881919" cy="13881919"/>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6730709" y="2679253"/>
            <a:ext cx="373607" cy="373607"/>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38100" cap="sq">
              <a:solidFill>
                <a:srgbClr val="00569E"/>
              </a:solidFill>
              <a:prstDash val="solid"/>
              <a:miter/>
            </a:ln>
          </p:spPr>
        </p:sp>
        <p:sp>
          <p:nvSpPr>
            <p:cNvPr name="TextBox 10" id="10"/>
            <p:cNvSpPr txBox="true"/>
            <p:nvPr/>
          </p:nvSpPr>
          <p:spPr>
            <a:xfrm>
              <a:off x="76200" y="28575"/>
              <a:ext cx="660400" cy="708025"/>
            </a:xfrm>
            <a:prstGeom prst="rect">
              <a:avLst/>
            </a:prstGeom>
          </p:spPr>
          <p:txBody>
            <a:bodyPr anchor="ctr" rtlCol="false" tIns="0" lIns="0" bIns="0" rIns="0"/>
            <a:lstStyle/>
            <a:p>
              <a:pPr algn="ctr">
                <a:lnSpc>
                  <a:spcPts val="3640"/>
                </a:lnSpc>
              </a:pPr>
            </a:p>
          </p:txBody>
        </p:sp>
      </p:grpSp>
      <p:grpSp>
        <p:nvGrpSpPr>
          <p:cNvPr name="Group 11" id="11"/>
          <p:cNvGrpSpPr/>
          <p:nvPr/>
        </p:nvGrpSpPr>
        <p:grpSpPr>
          <a:xfrm rot="0">
            <a:off x="7045691" y="4272626"/>
            <a:ext cx="373607" cy="373607"/>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38100" cap="sq">
              <a:solidFill>
                <a:srgbClr val="00569E"/>
              </a:solidFill>
              <a:prstDash val="solid"/>
              <a:miter/>
            </a:ln>
          </p:spPr>
        </p:sp>
        <p:sp>
          <p:nvSpPr>
            <p:cNvPr name="TextBox 13" id="13"/>
            <p:cNvSpPr txBox="true"/>
            <p:nvPr/>
          </p:nvSpPr>
          <p:spPr>
            <a:xfrm>
              <a:off x="76200" y="28575"/>
              <a:ext cx="660400" cy="708025"/>
            </a:xfrm>
            <a:prstGeom prst="rect">
              <a:avLst/>
            </a:prstGeom>
          </p:spPr>
          <p:txBody>
            <a:bodyPr anchor="ctr" rtlCol="false" tIns="0" lIns="0" bIns="0" rIns="0"/>
            <a:lstStyle/>
            <a:p>
              <a:pPr algn="ctr">
                <a:lnSpc>
                  <a:spcPts val="3640"/>
                </a:lnSpc>
              </a:pPr>
            </a:p>
          </p:txBody>
        </p:sp>
      </p:grpSp>
      <p:grpSp>
        <p:nvGrpSpPr>
          <p:cNvPr name="Group 14" id="14"/>
          <p:cNvGrpSpPr/>
          <p:nvPr/>
        </p:nvGrpSpPr>
        <p:grpSpPr>
          <a:xfrm rot="0">
            <a:off x="6730709" y="7216397"/>
            <a:ext cx="373607" cy="373607"/>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38100" cap="sq">
              <a:solidFill>
                <a:srgbClr val="00569E"/>
              </a:solidFill>
              <a:prstDash val="solid"/>
              <a:miter/>
            </a:ln>
          </p:spPr>
        </p:sp>
        <p:sp>
          <p:nvSpPr>
            <p:cNvPr name="TextBox 16" id="16"/>
            <p:cNvSpPr txBox="true"/>
            <p:nvPr/>
          </p:nvSpPr>
          <p:spPr>
            <a:xfrm>
              <a:off x="76200" y="28575"/>
              <a:ext cx="660400" cy="708025"/>
            </a:xfrm>
            <a:prstGeom prst="rect">
              <a:avLst/>
            </a:prstGeom>
          </p:spPr>
          <p:txBody>
            <a:bodyPr anchor="ctr" rtlCol="false" tIns="0" lIns="0" bIns="0" rIns="0"/>
            <a:lstStyle/>
            <a:p>
              <a:pPr algn="ctr">
                <a:lnSpc>
                  <a:spcPts val="3640"/>
                </a:lnSpc>
              </a:pPr>
            </a:p>
          </p:txBody>
        </p:sp>
      </p:grpSp>
      <p:grpSp>
        <p:nvGrpSpPr>
          <p:cNvPr name="Group 17" id="17"/>
          <p:cNvGrpSpPr/>
          <p:nvPr/>
        </p:nvGrpSpPr>
        <p:grpSpPr>
          <a:xfrm rot="0">
            <a:off x="7045691" y="5597931"/>
            <a:ext cx="373607" cy="373607"/>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38100" cap="sq">
              <a:solidFill>
                <a:srgbClr val="00569E"/>
              </a:solidFill>
              <a:prstDash val="solid"/>
              <a:miter/>
            </a:ln>
          </p:spPr>
        </p:sp>
        <p:sp>
          <p:nvSpPr>
            <p:cNvPr name="TextBox 19" id="19"/>
            <p:cNvSpPr txBox="true"/>
            <p:nvPr/>
          </p:nvSpPr>
          <p:spPr>
            <a:xfrm>
              <a:off x="76200" y="28575"/>
              <a:ext cx="660400" cy="708025"/>
            </a:xfrm>
            <a:prstGeom prst="rect">
              <a:avLst/>
            </a:prstGeom>
          </p:spPr>
          <p:txBody>
            <a:bodyPr anchor="ctr" rtlCol="false" tIns="0" lIns="0" bIns="0" rIns="0"/>
            <a:lstStyle/>
            <a:p>
              <a:pPr algn="ctr">
                <a:lnSpc>
                  <a:spcPts val="3640"/>
                </a:lnSpc>
              </a:pPr>
            </a:p>
          </p:txBody>
        </p:sp>
      </p:grpSp>
      <p:sp>
        <p:nvSpPr>
          <p:cNvPr name="Freeform 20" id="20"/>
          <p:cNvSpPr/>
          <p:nvPr/>
        </p:nvSpPr>
        <p:spPr>
          <a:xfrm flipH="false" flipV="false" rot="0">
            <a:off x="10174473" y="6390001"/>
            <a:ext cx="2221765" cy="3378122"/>
          </a:xfrm>
          <a:custGeom>
            <a:avLst/>
            <a:gdLst/>
            <a:ahLst/>
            <a:cxnLst/>
            <a:rect r="r" b="b" t="t" l="l"/>
            <a:pathLst>
              <a:path h="3378122" w="2221765">
                <a:moveTo>
                  <a:pt x="0" y="0"/>
                </a:moveTo>
                <a:lnTo>
                  <a:pt x="2221765" y="0"/>
                </a:lnTo>
                <a:lnTo>
                  <a:pt x="2221765" y="3378122"/>
                </a:lnTo>
                <a:lnTo>
                  <a:pt x="0" y="3378122"/>
                </a:lnTo>
                <a:lnTo>
                  <a:pt x="0" y="0"/>
                </a:lnTo>
                <a:close/>
              </a:path>
            </a:pathLst>
          </a:custGeom>
          <a:blipFill>
            <a:blip r:embed="rId2"/>
            <a:stretch>
              <a:fillRect l="0" t="0" r="0" b="0"/>
            </a:stretch>
          </a:blipFill>
        </p:spPr>
      </p:sp>
      <p:sp>
        <p:nvSpPr>
          <p:cNvPr name="TextBox 21" id="21"/>
          <p:cNvSpPr txBox="true"/>
          <p:nvPr/>
        </p:nvSpPr>
        <p:spPr>
          <a:xfrm rot="0">
            <a:off x="7969941" y="423627"/>
            <a:ext cx="9173252" cy="2660427"/>
          </a:xfrm>
          <a:prstGeom prst="rect">
            <a:avLst/>
          </a:prstGeom>
        </p:spPr>
        <p:txBody>
          <a:bodyPr anchor="t" rtlCol="false" tIns="0" lIns="0" bIns="0" rIns="0">
            <a:spAutoFit/>
          </a:bodyPr>
          <a:lstStyle/>
          <a:p>
            <a:pPr algn="l">
              <a:lnSpc>
                <a:spcPts val="3499"/>
              </a:lnSpc>
            </a:pPr>
            <a:r>
              <a:rPr lang="en-US" sz="2499">
                <a:solidFill>
                  <a:srgbClr val="051D40"/>
                </a:solidFill>
                <a:latin typeface="Times New Roman Bold"/>
                <a:ea typeface="Times New Roman Bold"/>
                <a:cs typeface="Times New Roman Bold"/>
                <a:sym typeface="Times New Roman Bold"/>
              </a:rPr>
              <a:t>2) Case Study 2: Investigating Metric Spike</a:t>
            </a:r>
          </a:p>
          <a:p>
            <a:pPr algn="l">
              <a:lnSpc>
                <a:spcPts val="3499"/>
              </a:lnSpc>
            </a:pPr>
          </a:p>
          <a:p>
            <a:pPr algn="l">
              <a:lnSpc>
                <a:spcPts val="3499"/>
              </a:lnSpc>
            </a:pPr>
            <a:r>
              <a:rPr lang="en-US" sz="2499">
                <a:solidFill>
                  <a:srgbClr val="051D40"/>
                </a:solidFill>
                <a:latin typeface="Times New Roman Bold"/>
                <a:ea typeface="Times New Roman Bold"/>
                <a:cs typeface="Times New Roman Bold"/>
                <a:sym typeface="Times New Roman Bold"/>
              </a:rPr>
              <a:t>A) Weekly User Engagement:</a:t>
            </a:r>
          </a:p>
          <a:p>
            <a:pPr algn="l" marL="539749" indent="-269875" lvl="1">
              <a:lnSpc>
                <a:spcPts val="3499"/>
              </a:lnSpc>
              <a:buFont typeface="Arial"/>
              <a:buChar char="•"/>
            </a:pPr>
            <a:r>
              <a:rPr lang="en-US" sz="2499">
                <a:solidFill>
                  <a:srgbClr val="051D40"/>
                </a:solidFill>
                <a:latin typeface="Times New Roman Bold"/>
                <a:ea typeface="Times New Roman Bold"/>
                <a:cs typeface="Times New Roman Bold"/>
                <a:sym typeface="Times New Roman Bold"/>
              </a:rPr>
              <a:t>Objective: </a:t>
            </a:r>
            <a:r>
              <a:rPr lang="en-US" sz="2499">
                <a:solidFill>
                  <a:srgbClr val="051D40"/>
                </a:solidFill>
                <a:latin typeface="Times New Roman"/>
                <a:ea typeface="Times New Roman"/>
                <a:cs typeface="Times New Roman"/>
                <a:sym typeface="Times New Roman"/>
              </a:rPr>
              <a:t>Measure the activeness of users on a weekly basis.</a:t>
            </a:r>
          </a:p>
          <a:p>
            <a:pPr algn="l" marL="539749" indent="-269875" lvl="1">
              <a:lnSpc>
                <a:spcPts val="3499"/>
              </a:lnSpc>
              <a:buFont typeface="Arial"/>
              <a:buChar char="•"/>
            </a:pPr>
            <a:r>
              <a:rPr lang="en-US" sz="2499">
                <a:solidFill>
                  <a:srgbClr val="051D40"/>
                </a:solidFill>
                <a:latin typeface="Times New Roman Bold"/>
                <a:ea typeface="Times New Roman Bold"/>
                <a:cs typeface="Times New Roman Bold"/>
                <a:sym typeface="Times New Roman Bold"/>
              </a:rPr>
              <a:t>Your Task: </a:t>
            </a:r>
            <a:r>
              <a:rPr lang="en-US" sz="2499">
                <a:solidFill>
                  <a:srgbClr val="051D40"/>
                </a:solidFill>
                <a:latin typeface="Times New Roman"/>
                <a:ea typeface="Times New Roman"/>
                <a:cs typeface="Times New Roman"/>
                <a:sym typeface="Times New Roman"/>
              </a:rPr>
              <a:t>Write an SQL query to calculate the weekly user engagement.</a:t>
            </a:r>
          </a:p>
        </p:txBody>
      </p:sp>
      <p:sp>
        <p:nvSpPr>
          <p:cNvPr name="TextBox 22" id="22"/>
          <p:cNvSpPr txBox="true"/>
          <p:nvPr/>
        </p:nvSpPr>
        <p:spPr>
          <a:xfrm rot="0">
            <a:off x="7969941" y="6294751"/>
            <a:ext cx="7937519" cy="469863"/>
          </a:xfrm>
          <a:prstGeom prst="rect">
            <a:avLst/>
          </a:prstGeom>
        </p:spPr>
        <p:txBody>
          <a:bodyPr anchor="t" rtlCol="false" tIns="0" lIns="0" bIns="0" rIns="0">
            <a:spAutoFit/>
          </a:bodyPr>
          <a:lstStyle/>
          <a:p>
            <a:pPr algn="l">
              <a:lnSpc>
                <a:spcPts val="3499"/>
              </a:lnSpc>
            </a:pPr>
            <a:r>
              <a:rPr lang="en-US" sz="2499">
                <a:solidFill>
                  <a:srgbClr val="051D40"/>
                </a:solidFill>
                <a:latin typeface="Times New Roman Bold"/>
                <a:ea typeface="Times New Roman Bold"/>
                <a:cs typeface="Times New Roman Bold"/>
                <a:sym typeface="Times New Roman Bold"/>
              </a:rPr>
              <a:t>Query Result: </a:t>
            </a:r>
          </a:p>
        </p:txBody>
      </p:sp>
      <p:sp>
        <p:nvSpPr>
          <p:cNvPr name="TextBox 23" id="23"/>
          <p:cNvSpPr txBox="true"/>
          <p:nvPr/>
        </p:nvSpPr>
        <p:spPr>
          <a:xfrm rot="0">
            <a:off x="1028700" y="4465258"/>
            <a:ext cx="6486181" cy="890681"/>
          </a:xfrm>
          <a:prstGeom prst="rect">
            <a:avLst/>
          </a:prstGeom>
        </p:spPr>
        <p:txBody>
          <a:bodyPr anchor="t" rtlCol="false" tIns="0" lIns="0" bIns="0" rIns="0">
            <a:spAutoFit/>
          </a:bodyPr>
          <a:lstStyle/>
          <a:p>
            <a:pPr algn="l" marL="0" indent="0" lvl="0">
              <a:lnSpc>
                <a:spcPts val="6553"/>
              </a:lnSpc>
              <a:spcBef>
                <a:spcPct val="0"/>
              </a:spcBef>
            </a:pPr>
            <a:r>
              <a:rPr lang="en-US" sz="4680">
                <a:solidFill>
                  <a:srgbClr val="FDFDFD"/>
                </a:solidFill>
                <a:latin typeface="Times New Roman Bold"/>
                <a:ea typeface="Times New Roman Bold"/>
                <a:cs typeface="Times New Roman Bold"/>
                <a:sym typeface="Times New Roman Bold"/>
              </a:rPr>
              <a:t>SQL Task:</a:t>
            </a:r>
          </a:p>
        </p:txBody>
      </p:sp>
      <p:sp>
        <p:nvSpPr>
          <p:cNvPr name="TextBox 24" id="24"/>
          <p:cNvSpPr txBox="true"/>
          <p:nvPr/>
        </p:nvSpPr>
        <p:spPr>
          <a:xfrm rot="0">
            <a:off x="7969941" y="3113057"/>
            <a:ext cx="7937519" cy="469863"/>
          </a:xfrm>
          <a:prstGeom prst="rect">
            <a:avLst/>
          </a:prstGeom>
        </p:spPr>
        <p:txBody>
          <a:bodyPr anchor="t" rtlCol="false" tIns="0" lIns="0" bIns="0" rIns="0">
            <a:spAutoFit/>
          </a:bodyPr>
          <a:lstStyle/>
          <a:p>
            <a:pPr algn="l">
              <a:lnSpc>
                <a:spcPts val="3499"/>
              </a:lnSpc>
            </a:pPr>
            <a:r>
              <a:rPr lang="en-US" sz="2499">
                <a:solidFill>
                  <a:srgbClr val="051D40"/>
                </a:solidFill>
                <a:latin typeface="Times New Roman Bold"/>
                <a:ea typeface="Times New Roman Bold"/>
                <a:cs typeface="Times New Roman Bold"/>
                <a:sym typeface="Times New Roman Bold"/>
              </a:rPr>
              <a:t>SQL Query:</a:t>
            </a:r>
          </a:p>
        </p:txBody>
      </p:sp>
      <p:sp>
        <p:nvSpPr>
          <p:cNvPr name="TextBox 25" id="25"/>
          <p:cNvSpPr txBox="true"/>
          <p:nvPr/>
        </p:nvSpPr>
        <p:spPr>
          <a:xfrm rot="0">
            <a:off x="7969941" y="3605749"/>
            <a:ext cx="9173252" cy="2660427"/>
          </a:xfrm>
          <a:prstGeom prst="rect">
            <a:avLst/>
          </a:prstGeom>
        </p:spPr>
        <p:txBody>
          <a:bodyPr anchor="t" rtlCol="false" tIns="0" lIns="0" bIns="0" rIns="0">
            <a:spAutoFit/>
          </a:bodyPr>
          <a:lstStyle/>
          <a:p>
            <a:pPr algn="l">
              <a:lnSpc>
                <a:spcPts val="3499"/>
              </a:lnSpc>
            </a:pPr>
            <a:r>
              <a:rPr lang="en-US" sz="2499">
                <a:solidFill>
                  <a:srgbClr val="051D40"/>
                </a:solidFill>
                <a:latin typeface="Times New Roman"/>
                <a:ea typeface="Times New Roman"/>
                <a:cs typeface="Times New Roman"/>
                <a:sym typeface="Times New Roman"/>
              </a:rPr>
              <a:t>select extract(week from occurred_at) as week_number,</a:t>
            </a:r>
          </a:p>
          <a:p>
            <a:pPr algn="l">
              <a:lnSpc>
                <a:spcPts val="3499"/>
              </a:lnSpc>
            </a:pPr>
            <a:r>
              <a:rPr lang="en-US" sz="2499">
                <a:solidFill>
                  <a:srgbClr val="051D40"/>
                </a:solidFill>
                <a:latin typeface="Times New Roman"/>
                <a:ea typeface="Times New Roman"/>
                <a:cs typeface="Times New Roman"/>
                <a:sym typeface="Times New Roman"/>
              </a:rPr>
              <a:t>       count(distinct user_id) as active_user</a:t>
            </a:r>
          </a:p>
          <a:p>
            <a:pPr algn="l">
              <a:lnSpc>
                <a:spcPts val="3499"/>
              </a:lnSpc>
            </a:pPr>
            <a:r>
              <a:rPr lang="en-US" sz="2499">
                <a:solidFill>
                  <a:srgbClr val="051D40"/>
                </a:solidFill>
                <a:latin typeface="Times New Roman"/>
                <a:ea typeface="Times New Roman"/>
                <a:cs typeface="Times New Roman"/>
                <a:sym typeface="Times New Roman"/>
              </a:rPr>
              <a:t>from events</a:t>
            </a:r>
          </a:p>
          <a:p>
            <a:pPr algn="l">
              <a:lnSpc>
                <a:spcPts val="3499"/>
              </a:lnSpc>
            </a:pPr>
            <a:r>
              <a:rPr lang="en-US" sz="2499">
                <a:solidFill>
                  <a:srgbClr val="051D40"/>
                </a:solidFill>
                <a:latin typeface="Times New Roman"/>
                <a:ea typeface="Times New Roman"/>
                <a:cs typeface="Times New Roman"/>
                <a:sym typeface="Times New Roman"/>
              </a:rPr>
              <a:t>where event_type = 'engagement'</a:t>
            </a:r>
          </a:p>
          <a:p>
            <a:pPr algn="l">
              <a:lnSpc>
                <a:spcPts val="3499"/>
              </a:lnSpc>
            </a:pPr>
            <a:r>
              <a:rPr lang="en-US" sz="2499">
                <a:solidFill>
                  <a:srgbClr val="051D40"/>
                </a:solidFill>
                <a:latin typeface="Times New Roman"/>
                <a:ea typeface="Times New Roman"/>
                <a:cs typeface="Times New Roman"/>
                <a:sym typeface="Times New Roman"/>
              </a:rPr>
              <a:t>group by week_number</a:t>
            </a:r>
          </a:p>
          <a:p>
            <a:pPr algn="l">
              <a:lnSpc>
                <a:spcPts val="3499"/>
              </a:lnSpc>
            </a:pPr>
            <a:r>
              <a:rPr lang="en-US" sz="2499">
                <a:solidFill>
                  <a:srgbClr val="051D40"/>
                </a:solidFill>
                <a:latin typeface="Times New Roman"/>
                <a:ea typeface="Times New Roman"/>
                <a:cs typeface="Times New Roman"/>
                <a:sym typeface="Times New Roman"/>
              </a:rPr>
              <a:t>order by week_number ;</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7922514" y="-2630668"/>
            <a:ext cx="15178802" cy="15178802"/>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38100" cap="sq">
              <a:solidFill>
                <a:srgbClr val="145DA0"/>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7503865" y="-1939873"/>
            <a:ext cx="13881919" cy="13881919"/>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6730709" y="2679253"/>
            <a:ext cx="373607" cy="373607"/>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38100" cap="sq">
              <a:solidFill>
                <a:srgbClr val="00569E"/>
              </a:solidFill>
              <a:prstDash val="solid"/>
              <a:miter/>
            </a:ln>
          </p:spPr>
        </p:sp>
        <p:sp>
          <p:nvSpPr>
            <p:cNvPr name="TextBox 10" id="10"/>
            <p:cNvSpPr txBox="true"/>
            <p:nvPr/>
          </p:nvSpPr>
          <p:spPr>
            <a:xfrm>
              <a:off x="76200" y="28575"/>
              <a:ext cx="660400" cy="708025"/>
            </a:xfrm>
            <a:prstGeom prst="rect">
              <a:avLst/>
            </a:prstGeom>
          </p:spPr>
          <p:txBody>
            <a:bodyPr anchor="ctr" rtlCol="false" tIns="0" lIns="0" bIns="0" rIns="0"/>
            <a:lstStyle/>
            <a:p>
              <a:pPr algn="ctr">
                <a:lnSpc>
                  <a:spcPts val="3640"/>
                </a:lnSpc>
              </a:pPr>
            </a:p>
          </p:txBody>
        </p:sp>
      </p:grpSp>
      <p:grpSp>
        <p:nvGrpSpPr>
          <p:cNvPr name="Group 11" id="11"/>
          <p:cNvGrpSpPr/>
          <p:nvPr/>
        </p:nvGrpSpPr>
        <p:grpSpPr>
          <a:xfrm rot="0">
            <a:off x="7045691" y="4244273"/>
            <a:ext cx="373607" cy="373607"/>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38100" cap="sq">
              <a:solidFill>
                <a:srgbClr val="00569E"/>
              </a:solidFill>
              <a:prstDash val="solid"/>
              <a:miter/>
            </a:ln>
          </p:spPr>
        </p:sp>
        <p:sp>
          <p:nvSpPr>
            <p:cNvPr name="TextBox 13" id="13"/>
            <p:cNvSpPr txBox="true"/>
            <p:nvPr/>
          </p:nvSpPr>
          <p:spPr>
            <a:xfrm>
              <a:off x="76200" y="28575"/>
              <a:ext cx="660400" cy="708025"/>
            </a:xfrm>
            <a:prstGeom prst="rect">
              <a:avLst/>
            </a:prstGeom>
          </p:spPr>
          <p:txBody>
            <a:bodyPr anchor="ctr" rtlCol="false" tIns="0" lIns="0" bIns="0" rIns="0"/>
            <a:lstStyle/>
            <a:p>
              <a:pPr algn="ctr">
                <a:lnSpc>
                  <a:spcPts val="3640"/>
                </a:lnSpc>
              </a:pPr>
            </a:p>
          </p:txBody>
        </p:sp>
      </p:grpSp>
      <p:grpSp>
        <p:nvGrpSpPr>
          <p:cNvPr name="Group 14" id="14"/>
          <p:cNvGrpSpPr/>
          <p:nvPr/>
        </p:nvGrpSpPr>
        <p:grpSpPr>
          <a:xfrm rot="0">
            <a:off x="6730709" y="7216397"/>
            <a:ext cx="373607" cy="373607"/>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38100" cap="sq">
              <a:solidFill>
                <a:srgbClr val="00569E"/>
              </a:solidFill>
              <a:prstDash val="solid"/>
              <a:miter/>
            </a:ln>
          </p:spPr>
        </p:sp>
        <p:sp>
          <p:nvSpPr>
            <p:cNvPr name="TextBox 16" id="16"/>
            <p:cNvSpPr txBox="true"/>
            <p:nvPr/>
          </p:nvSpPr>
          <p:spPr>
            <a:xfrm>
              <a:off x="76200" y="28575"/>
              <a:ext cx="660400" cy="708025"/>
            </a:xfrm>
            <a:prstGeom prst="rect">
              <a:avLst/>
            </a:prstGeom>
          </p:spPr>
          <p:txBody>
            <a:bodyPr anchor="ctr" rtlCol="false" tIns="0" lIns="0" bIns="0" rIns="0"/>
            <a:lstStyle/>
            <a:p>
              <a:pPr algn="ctr">
                <a:lnSpc>
                  <a:spcPts val="3640"/>
                </a:lnSpc>
              </a:pPr>
            </a:p>
          </p:txBody>
        </p:sp>
      </p:grpSp>
      <p:grpSp>
        <p:nvGrpSpPr>
          <p:cNvPr name="Group 17" id="17"/>
          <p:cNvGrpSpPr/>
          <p:nvPr/>
        </p:nvGrpSpPr>
        <p:grpSpPr>
          <a:xfrm rot="0">
            <a:off x="7045691" y="5569577"/>
            <a:ext cx="373607" cy="373607"/>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38100" cap="sq">
              <a:solidFill>
                <a:srgbClr val="00569E"/>
              </a:solidFill>
              <a:prstDash val="solid"/>
              <a:miter/>
            </a:ln>
          </p:spPr>
        </p:sp>
        <p:sp>
          <p:nvSpPr>
            <p:cNvPr name="TextBox 19" id="19"/>
            <p:cNvSpPr txBox="true"/>
            <p:nvPr/>
          </p:nvSpPr>
          <p:spPr>
            <a:xfrm>
              <a:off x="76200" y="28575"/>
              <a:ext cx="660400" cy="708025"/>
            </a:xfrm>
            <a:prstGeom prst="rect">
              <a:avLst/>
            </a:prstGeom>
          </p:spPr>
          <p:txBody>
            <a:bodyPr anchor="ctr" rtlCol="false" tIns="0" lIns="0" bIns="0" rIns="0"/>
            <a:lstStyle/>
            <a:p>
              <a:pPr algn="ctr">
                <a:lnSpc>
                  <a:spcPts val="3640"/>
                </a:lnSpc>
              </a:pPr>
            </a:p>
          </p:txBody>
        </p:sp>
      </p:grpSp>
      <p:sp>
        <p:nvSpPr>
          <p:cNvPr name="Freeform 20" id="20"/>
          <p:cNvSpPr/>
          <p:nvPr/>
        </p:nvSpPr>
        <p:spPr>
          <a:xfrm flipH="false" flipV="false" rot="0">
            <a:off x="10230726" y="7326159"/>
            <a:ext cx="2441948" cy="2433350"/>
          </a:xfrm>
          <a:custGeom>
            <a:avLst/>
            <a:gdLst/>
            <a:ahLst/>
            <a:cxnLst/>
            <a:rect r="r" b="b" t="t" l="l"/>
            <a:pathLst>
              <a:path h="2433350" w="2441948">
                <a:moveTo>
                  <a:pt x="0" y="0"/>
                </a:moveTo>
                <a:lnTo>
                  <a:pt x="2441948" y="0"/>
                </a:lnTo>
                <a:lnTo>
                  <a:pt x="2441948" y="2433350"/>
                </a:lnTo>
                <a:lnTo>
                  <a:pt x="0" y="2433350"/>
                </a:lnTo>
                <a:lnTo>
                  <a:pt x="0" y="0"/>
                </a:lnTo>
                <a:close/>
              </a:path>
            </a:pathLst>
          </a:custGeom>
          <a:blipFill>
            <a:blip r:embed="rId2"/>
            <a:stretch>
              <a:fillRect l="0" t="0" r="0" b="0"/>
            </a:stretch>
          </a:blipFill>
        </p:spPr>
      </p:sp>
      <p:sp>
        <p:nvSpPr>
          <p:cNvPr name="TextBox 21" id="21"/>
          <p:cNvSpPr txBox="true"/>
          <p:nvPr/>
        </p:nvSpPr>
        <p:spPr>
          <a:xfrm rot="0">
            <a:off x="8086048" y="432241"/>
            <a:ext cx="9052147" cy="1784201"/>
          </a:xfrm>
          <a:prstGeom prst="rect">
            <a:avLst/>
          </a:prstGeom>
        </p:spPr>
        <p:txBody>
          <a:bodyPr anchor="t" rtlCol="false" tIns="0" lIns="0" bIns="0" rIns="0">
            <a:spAutoFit/>
          </a:bodyPr>
          <a:lstStyle/>
          <a:p>
            <a:pPr algn="l">
              <a:lnSpc>
                <a:spcPts val="3499"/>
              </a:lnSpc>
            </a:pPr>
            <a:r>
              <a:rPr lang="en-US" sz="2499">
                <a:solidFill>
                  <a:srgbClr val="051D40"/>
                </a:solidFill>
                <a:latin typeface="Times New Roman Bold"/>
                <a:ea typeface="Times New Roman Bold"/>
                <a:cs typeface="Times New Roman Bold"/>
                <a:sym typeface="Times New Roman Bold"/>
              </a:rPr>
              <a:t>B) User Growth Analysis:</a:t>
            </a:r>
          </a:p>
          <a:p>
            <a:pPr algn="l" marL="539749" indent="-269875" lvl="1">
              <a:lnSpc>
                <a:spcPts val="3499"/>
              </a:lnSpc>
              <a:buFont typeface="Arial"/>
              <a:buChar char="•"/>
            </a:pPr>
            <a:r>
              <a:rPr lang="en-US" sz="2499">
                <a:solidFill>
                  <a:srgbClr val="051D40"/>
                </a:solidFill>
                <a:latin typeface="Times New Roman Bold"/>
                <a:ea typeface="Times New Roman Bold"/>
                <a:cs typeface="Times New Roman Bold"/>
                <a:sym typeface="Times New Roman Bold"/>
              </a:rPr>
              <a:t>Objective: </a:t>
            </a:r>
            <a:r>
              <a:rPr lang="en-US" sz="2499">
                <a:solidFill>
                  <a:srgbClr val="051D40"/>
                </a:solidFill>
                <a:latin typeface="Times New Roman"/>
                <a:ea typeface="Times New Roman"/>
                <a:cs typeface="Times New Roman"/>
                <a:sym typeface="Times New Roman"/>
              </a:rPr>
              <a:t>Analyze the growth of users over time for a product.</a:t>
            </a:r>
          </a:p>
          <a:p>
            <a:pPr algn="l" marL="539749" indent="-269875" lvl="1">
              <a:lnSpc>
                <a:spcPts val="3499"/>
              </a:lnSpc>
              <a:buFont typeface="Arial"/>
              <a:buChar char="•"/>
            </a:pPr>
            <a:r>
              <a:rPr lang="en-US" sz="2499">
                <a:solidFill>
                  <a:srgbClr val="051D40"/>
                </a:solidFill>
                <a:latin typeface="Times New Roman Bold"/>
                <a:ea typeface="Times New Roman Bold"/>
                <a:cs typeface="Times New Roman Bold"/>
                <a:sym typeface="Times New Roman Bold"/>
              </a:rPr>
              <a:t>Your Task: </a:t>
            </a:r>
            <a:r>
              <a:rPr lang="en-US" sz="2499">
                <a:solidFill>
                  <a:srgbClr val="051D40"/>
                </a:solidFill>
                <a:latin typeface="Times New Roman"/>
                <a:ea typeface="Times New Roman"/>
                <a:cs typeface="Times New Roman"/>
                <a:sym typeface="Times New Roman"/>
              </a:rPr>
              <a:t>Write an SQL query to calculate the user growth for the product.</a:t>
            </a:r>
          </a:p>
        </p:txBody>
      </p:sp>
      <p:sp>
        <p:nvSpPr>
          <p:cNvPr name="TextBox 22" id="22"/>
          <p:cNvSpPr txBox="true"/>
          <p:nvPr/>
        </p:nvSpPr>
        <p:spPr>
          <a:xfrm rot="0">
            <a:off x="1028700" y="4436905"/>
            <a:ext cx="6486181" cy="890681"/>
          </a:xfrm>
          <a:prstGeom prst="rect">
            <a:avLst/>
          </a:prstGeom>
        </p:spPr>
        <p:txBody>
          <a:bodyPr anchor="t" rtlCol="false" tIns="0" lIns="0" bIns="0" rIns="0">
            <a:spAutoFit/>
          </a:bodyPr>
          <a:lstStyle/>
          <a:p>
            <a:pPr algn="l" marL="0" indent="0" lvl="0">
              <a:lnSpc>
                <a:spcPts val="6553"/>
              </a:lnSpc>
              <a:spcBef>
                <a:spcPct val="0"/>
              </a:spcBef>
            </a:pPr>
            <a:r>
              <a:rPr lang="en-US" sz="4680">
                <a:solidFill>
                  <a:srgbClr val="FDFDFD"/>
                </a:solidFill>
                <a:latin typeface="Times New Roman Bold"/>
                <a:ea typeface="Times New Roman Bold"/>
                <a:cs typeface="Times New Roman Bold"/>
                <a:sym typeface="Times New Roman Bold"/>
              </a:rPr>
              <a:t>SQL Task:</a:t>
            </a:r>
          </a:p>
        </p:txBody>
      </p:sp>
      <p:sp>
        <p:nvSpPr>
          <p:cNvPr name="TextBox 23" id="23"/>
          <p:cNvSpPr txBox="true"/>
          <p:nvPr/>
        </p:nvSpPr>
        <p:spPr>
          <a:xfrm rot="0">
            <a:off x="8086048" y="7230909"/>
            <a:ext cx="7937519" cy="469863"/>
          </a:xfrm>
          <a:prstGeom prst="rect">
            <a:avLst/>
          </a:prstGeom>
        </p:spPr>
        <p:txBody>
          <a:bodyPr anchor="t" rtlCol="false" tIns="0" lIns="0" bIns="0" rIns="0">
            <a:spAutoFit/>
          </a:bodyPr>
          <a:lstStyle/>
          <a:p>
            <a:pPr algn="l">
              <a:lnSpc>
                <a:spcPts val="3499"/>
              </a:lnSpc>
            </a:pPr>
            <a:r>
              <a:rPr lang="en-US" sz="2499">
                <a:solidFill>
                  <a:srgbClr val="051D40"/>
                </a:solidFill>
                <a:latin typeface="Times New Roman Bold"/>
                <a:ea typeface="Times New Roman Bold"/>
                <a:cs typeface="Times New Roman Bold"/>
                <a:sym typeface="Times New Roman Bold"/>
              </a:rPr>
              <a:t>Query Result: </a:t>
            </a:r>
          </a:p>
        </p:txBody>
      </p:sp>
      <p:sp>
        <p:nvSpPr>
          <p:cNvPr name="TextBox 24" id="24"/>
          <p:cNvSpPr txBox="true"/>
          <p:nvPr/>
        </p:nvSpPr>
        <p:spPr>
          <a:xfrm rot="0">
            <a:off x="8086048" y="2273593"/>
            <a:ext cx="7937519" cy="469863"/>
          </a:xfrm>
          <a:prstGeom prst="rect">
            <a:avLst/>
          </a:prstGeom>
        </p:spPr>
        <p:txBody>
          <a:bodyPr anchor="t" rtlCol="false" tIns="0" lIns="0" bIns="0" rIns="0">
            <a:spAutoFit/>
          </a:bodyPr>
          <a:lstStyle/>
          <a:p>
            <a:pPr algn="l">
              <a:lnSpc>
                <a:spcPts val="3499"/>
              </a:lnSpc>
            </a:pPr>
            <a:r>
              <a:rPr lang="en-US" sz="2499">
                <a:solidFill>
                  <a:srgbClr val="051D40"/>
                </a:solidFill>
                <a:latin typeface="Times New Roman Bold"/>
                <a:ea typeface="Times New Roman Bold"/>
                <a:cs typeface="Times New Roman Bold"/>
                <a:sym typeface="Times New Roman Bold"/>
              </a:rPr>
              <a:t>SQL Query:</a:t>
            </a:r>
          </a:p>
        </p:txBody>
      </p:sp>
      <p:sp>
        <p:nvSpPr>
          <p:cNvPr name="TextBox 25" id="25"/>
          <p:cNvSpPr txBox="true"/>
          <p:nvPr/>
        </p:nvSpPr>
        <p:spPr>
          <a:xfrm rot="0">
            <a:off x="8086048" y="2760881"/>
            <a:ext cx="9173252" cy="4412878"/>
          </a:xfrm>
          <a:prstGeom prst="rect">
            <a:avLst/>
          </a:prstGeom>
        </p:spPr>
        <p:txBody>
          <a:bodyPr anchor="t" rtlCol="false" tIns="0" lIns="0" bIns="0" rIns="0">
            <a:spAutoFit/>
          </a:bodyPr>
          <a:lstStyle/>
          <a:p>
            <a:pPr algn="l">
              <a:lnSpc>
                <a:spcPts val="3499"/>
              </a:lnSpc>
            </a:pPr>
            <a:r>
              <a:rPr lang="en-US" sz="2499">
                <a:solidFill>
                  <a:srgbClr val="051D40"/>
                </a:solidFill>
                <a:latin typeface="Times New Roman"/>
                <a:ea typeface="Times New Roman"/>
                <a:cs typeface="Times New Roman"/>
                <a:sym typeface="Times New Roman"/>
              </a:rPr>
              <a:t>set @g := 0;</a:t>
            </a:r>
          </a:p>
          <a:p>
            <a:pPr algn="l">
              <a:lnSpc>
                <a:spcPts val="3499"/>
              </a:lnSpc>
            </a:pPr>
            <a:r>
              <a:rPr lang="en-US" sz="2499">
                <a:solidFill>
                  <a:srgbClr val="051D40"/>
                </a:solidFill>
                <a:latin typeface="Times New Roman"/>
                <a:ea typeface="Times New Roman"/>
                <a:cs typeface="Times New Roman"/>
                <a:sym typeface="Times New Roman"/>
              </a:rPr>
              <a:t>select a.no_of_users, </a:t>
            </a:r>
          </a:p>
          <a:p>
            <a:pPr algn="l">
              <a:lnSpc>
                <a:spcPts val="3499"/>
              </a:lnSpc>
            </a:pPr>
            <a:r>
              <a:rPr lang="en-US" sz="2499">
                <a:solidFill>
                  <a:srgbClr val="051D40"/>
                </a:solidFill>
                <a:latin typeface="Times New Roman"/>
                <a:ea typeface="Times New Roman"/>
                <a:cs typeface="Times New Roman"/>
                <a:sym typeface="Times New Roman"/>
              </a:rPr>
              <a:t>    a.date,</a:t>
            </a:r>
          </a:p>
          <a:p>
            <a:pPr algn="l">
              <a:lnSpc>
                <a:spcPts val="3499"/>
              </a:lnSpc>
            </a:pPr>
            <a:r>
              <a:rPr lang="en-US" sz="2499">
                <a:solidFill>
                  <a:srgbClr val="051D40"/>
                </a:solidFill>
                <a:latin typeface="Times New Roman"/>
                <a:ea typeface="Times New Roman"/>
                <a:cs typeface="Times New Roman"/>
                <a:sym typeface="Times New Roman"/>
              </a:rPr>
              <a:t> ( @g := @g + a.no_of_users ) as user_growth</a:t>
            </a:r>
          </a:p>
          <a:p>
            <a:pPr algn="l">
              <a:lnSpc>
                <a:spcPts val="3499"/>
              </a:lnSpc>
            </a:pPr>
            <a:r>
              <a:rPr lang="en-US" sz="2499">
                <a:solidFill>
                  <a:srgbClr val="051D40"/>
                </a:solidFill>
                <a:latin typeface="Times New Roman"/>
                <a:ea typeface="Times New Roman"/>
                <a:cs typeface="Times New Roman"/>
                <a:sym typeface="Times New Roman"/>
              </a:rPr>
              <a:t>from ( </a:t>
            </a:r>
          </a:p>
          <a:p>
            <a:pPr algn="l">
              <a:lnSpc>
                <a:spcPts val="3499"/>
              </a:lnSpc>
            </a:pPr>
            <a:r>
              <a:rPr lang="en-US" sz="2499">
                <a:solidFill>
                  <a:srgbClr val="051D40"/>
                </a:solidFill>
                <a:latin typeface="Times New Roman"/>
                <a:ea typeface="Times New Roman"/>
                <a:cs typeface="Times New Roman"/>
                <a:sym typeface="Times New Roman"/>
              </a:rPr>
              <a:t> select count(user_id) as no_of_users,</a:t>
            </a:r>
          </a:p>
          <a:p>
            <a:pPr algn="l">
              <a:lnSpc>
                <a:spcPts val="3499"/>
              </a:lnSpc>
            </a:pPr>
            <a:r>
              <a:rPr lang="en-US" sz="2499">
                <a:solidFill>
                  <a:srgbClr val="051D40"/>
                </a:solidFill>
                <a:latin typeface="Times New Roman"/>
                <a:ea typeface="Times New Roman"/>
                <a:cs typeface="Times New Roman"/>
                <a:sym typeface="Times New Roman"/>
              </a:rPr>
              <a:t>     date(created_at) as date</a:t>
            </a:r>
          </a:p>
          <a:p>
            <a:pPr algn="l">
              <a:lnSpc>
                <a:spcPts val="3499"/>
              </a:lnSpc>
            </a:pPr>
            <a:r>
              <a:rPr lang="en-US" sz="2499">
                <a:solidFill>
                  <a:srgbClr val="051D40"/>
                </a:solidFill>
                <a:latin typeface="Times New Roman"/>
                <a:ea typeface="Times New Roman"/>
                <a:cs typeface="Times New Roman"/>
                <a:sym typeface="Times New Roman"/>
              </a:rPr>
              <a:t> from users </a:t>
            </a:r>
          </a:p>
          <a:p>
            <a:pPr algn="l">
              <a:lnSpc>
                <a:spcPts val="3499"/>
              </a:lnSpc>
            </a:pPr>
            <a:r>
              <a:rPr lang="en-US" sz="2499">
                <a:solidFill>
                  <a:srgbClr val="051D40"/>
                </a:solidFill>
                <a:latin typeface="Times New Roman"/>
                <a:ea typeface="Times New Roman"/>
                <a:cs typeface="Times New Roman"/>
                <a:sym typeface="Times New Roman"/>
              </a:rPr>
              <a:t> where state = "active"</a:t>
            </a:r>
          </a:p>
          <a:p>
            <a:pPr algn="l">
              <a:lnSpc>
                <a:spcPts val="3499"/>
              </a:lnSpc>
            </a:pPr>
            <a:r>
              <a:rPr lang="en-US" sz="2499">
                <a:solidFill>
                  <a:srgbClr val="051D40"/>
                </a:solidFill>
                <a:latin typeface="Times New Roman"/>
                <a:ea typeface="Times New Roman"/>
                <a:cs typeface="Times New Roman"/>
                <a:sym typeface="Times New Roman"/>
              </a:rPr>
              <a:t> group by date(created_at) ) a;</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7922514" y="-2630668"/>
            <a:ext cx="15178802" cy="15178802"/>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38100" cap="sq">
              <a:solidFill>
                <a:srgbClr val="145DA0"/>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7503865" y="-1939873"/>
            <a:ext cx="13881919" cy="13881919"/>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6730709" y="2679253"/>
            <a:ext cx="373607" cy="373607"/>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38100" cap="sq">
              <a:solidFill>
                <a:srgbClr val="00569E"/>
              </a:solidFill>
              <a:prstDash val="solid"/>
              <a:miter/>
            </a:ln>
          </p:spPr>
        </p:sp>
        <p:sp>
          <p:nvSpPr>
            <p:cNvPr name="TextBox 10" id="10"/>
            <p:cNvSpPr txBox="true"/>
            <p:nvPr/>
          </p:nvSpPr>
          <p:spPr>
            <a:xfrm>
              <a:off x="76200" y="28575"/>
              <a:ext cx="660400" cy="708025"/>
            </a:xfrm>
            <a:prstGeom prst="rect">
              <a:avLst/>
            </a:prstGeom>
          </p:spPr>
          <p:txBody>
            <a:bodyPr anchor="ctr" rtlCol="false" tIns="0" lIns="0" bIns="0" rIns="0"/>
            <a:lstStyle/>
            <a:p>
              <a:pPr algn="ctr">
                <a:lnSpc>
                  <a:spcPts val="3640"/>
                </a:lnSpc>
              </a:pPr>
            </a:p>
          </p:txBody>
        </p:sp>
      </p:grpSp>
      <p:grpSp>
        <p:nvGrpSpPr>
          <p:cNvPr name="Group 11" id="11"/>
          <p:cNvGrpSpPr/>
          <p:nvPr/>
        </p:nvGrpSpPr>
        <p:grpSpPr>
          <a:xfrm rot="0">
            <a:off x="7045691" y="4272626"/>
            <a:ext cx="373607" cy="373607"/>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38100" cap="sq">
              <a:solidFill>
                <a:srgbClr val="00569E"/>
              </a:solidFill>
              <a:prstDash val="solid"/>
              <a:miter/>
            </a:ln>
          </p:spPr>
        </p:sp>
        <p:sp>
          <p:nvSpPr>
            <p:cNvPr name="TextBox 13" id="13"/>
            <p:cNvSpPr txBox="true"/>
            <p:nvPr/>
          </p:nvSpPr>
          <p:spPr>
            <a:xfrm>
              <a:off x="76200" y="28575"/>
              <a:ext cx="660400" cy="708025"/>
            </a:xfrm>
            <a:prstGeom prst="rect">
              <a:avLst/>
            </a:prstGeom>
          </p:spPr>
          <p:txBody>
            <a:bodyPr anchor="ctr" rtlCol="false" tIns="0" lIns="0" bIns="0" rIns="0"/>
            <a:lstStyle/>
            <a:p>
              <a:pPr algn="ctr">
                <a:lnSpc>
                  <a:spcPts val="3640"/>
                </a:lnSpc>
              </a:pPr>
            </a:p>
          </p:txBody>
        </p:sp>
      </p:grpSp>
      <p:grpSp>
        <p:nvGrpSpPr>
          <p:cNvPr name="Group 14" id="14"/>
          <p:cNvGrpSpPr/>
          <p:nvPr/>
        </p:nvGrpSpPr>
        <p:grpSpPr>
          <a:xfrm rot="0">
            <a:off x="6730709" y="7216397"/>
            <a:ext cx="373607" cy="373607"/>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38100" cap="sq">
              <a:solidFill>
                <a:srgbClr val="00569E"/>
              </a:solidFill>
              <a:prstDash val="solid"/>
              <a:miter/>
            </a:ln>
          </p:spPr>
        </p:sp>
        <p:sp>
          <p:nvSpPr>
            <p:cNvPr name="TextBox 16" id="16"/>
            <p:cNvSpPr txBox="true"/>
            <p:nvPr/>
          </p:nvSpPr>
          <p:spPr>
            <a:xfrm>
              <a:off x="76200" y="28575"/>
              <a:ext cx="660400" cy="708025"/>
            </a:xfrm>
            <a:prstGeom prst="rect">
              <a:avLst/>
            </a:prstGeom>
          </p:spPr>
          <p:txBody>
            <a:bodyPr anchor="ctr" rtlCol="false" tIns="0" lIns="0" bIns="0" rIns="0"/>
            <a:lstStyle/>
            <a:p>
              <a:pPr algn="ctr">
                <a:lnSpc>
                  <a:spcPts val="3640"/>
                </a:lnSpc>
              </a:pPr>
            </a:p>
          </p:txBody>
        </p:sp>
      </p:grpSp>
      <p:grpSp>
        <p:nvGrpSpPr>
          <p:cNvPr name="Group 17" id="17"/>
          <p:cNvGrpSpPr/>
          <p:nvPr/>
        </p:nvGrpSpPr>
        <p:grpSpPr>
          <a:xfrm rot="0">
            <a:off x="7045691" y="5597931"/>
            <a:ext cx="373607" cy="373607"/>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38100" cap="sq">
              <a:solidFill>
                <a:srgbClr val="00569E"/>
              </a:solidFill>
              <a:prstDash val="solid"/>
              <a:miter/>
            </a:ln>
          </p:spPr>
        </p:sp>
        <p:sp>
          <p:nvSpPr>
            <p:cNvPr name="TextBox 19" id="19"/>
            <p:cNvSpPr txBox="true"/>
            <p:nvPr/>
          </p:nvSpPr>
          <p:spPr>
            <a:xfrm>
              <a:off x="76200" y="28575"/>
              <a:ext cx="660400" cy="708025"/>
            </a:xfrm>
            <a:prstGeom prst="rect">
              <a:avLst/>
            </a:prstGeom>
          </p:spPr>
          <p:txBody>
            <a:bodyPr anchor="ctr" rtlCol="false" tIns="0" lIns="0" bIns="0" rIns="0"/>
            <a:lstStyle/>
            <a:p>
              <a:pPr algn="ctr">
                <a:lnSpc>
                  <a:spcPts val="3640"/>
                </a:lnSpc>
              </a:pPr>
            </a:p>
          </p:txBody>
        </p:sp>
      </p:grpSp>
      <p:sp>
        <p:nvSpPr>
          <p:cNvPr name="Freeform 20" id="20"/>
          <p:cNvSpPr/>
          <p:nvPr/>
        </p:nvSpPr>
        <p:spPr>
          <a:xfrm flipH="false" flipV="false" rot="0">
            <a:off x="10284270" y="5710727"/>
            <a:ext cx="2538593" cy="3865585"/>
          </a:xfrm>
          <a:custGeom>
            <a:avLst/>
            <a:gdLst/>
            <a:ahLst/>
            <a:cxnLst/>
            <a:rect r="r" b="b" t="t" l="l"/>
            <a:pathLst>
              <a:path h="3865585" w="2538593">
                <a:moveTo>
                  <a:pt x="0" y="0"/>
                </a:moveTo>
                <a:lnTo>
                  <a:pt x="2538593" y="0"/>
                </a:lnTo>
                <a:lnTo>
                  <a:pt x="2538593" y="3865586"/>
                </a:lnTo>
                <a:lnTo>
                  <a:pt x="0" y="3865586"/>
                </a:lnTo>
                <a:lnTo>
                  <a:pt x="0" y="0"/>
                </a:lnTo>
                <a:close/>
              </a:path>
            </a:pathLst>
          </a:custGeom>
          <a:blipFill>
            <a:blip r:embed="rId2"/>
            <a:stretch>
              <a:fillRect l="0" t="0" r="0" b="0"/>
            </a:stretch>
          </a:blipFill>
        </p:spPr>
      </p:sp>
      <p:sp>
        <p:nvSpPr>
          <p:cNvPr name="TextBox 21" id="21"/>
          <p:cNvSpPr txBox="true"/>
          <p:nvPr/>
        </p:nvSpPr>
        <p:spPr>
          <a:xfrm rot="0">
            <a:off x="8086048" y="615437"/>
            <a:ext cx="9173252" cy="2222314"/>
          </a:xfrm>
          <a:prstGeom prst="rect">
            <a:avLst/>
          </a:prstGeom>
        </p:spPr>
        <p:txBody>
          <a:bodyPr anchor="t" rtlCol="false" tIns="0" lIns="0" bIns="0" rIns="0">
            <a:spAutoFit/>
          </a:bodyPr>
          <a:lstStyle/>
          <a:p>
            <a:pPr algn="l">
              <a:lnSpc>
                <a:spcPts val="3499"/>
              </a:lnSpc>
            </a:pPr>
            <a:r>
              <a:rPr lang="en-US" sz="2499">
                <a:solidFill>
                  <a:srgbClr val="051D40"/>
                </a:solidFill>
                <a:latin typeface="Times New Roman Bold"/>
                <a:ea typeface="Times New Roman Bold"/>
                <a:cs typeface="Times New Roman Bold"/>
                <a:sym typeface="Times New Roman Bold"/>
              </a:rPr>
              <a:t>C) Weekly Retention Analysis:</a:t>
            </a:r>
          </a:p>
          <a:p>
            <a:pPr algn="l">
              <a:lnSpc>
                <a:spcPts val="3499"/>
              </a:lnSpc>
            </a:pPr>
            <a:r>
              <a:rPr lang="en-US" sz="2499">
                <a:solidFill>
                  <a:srgbClr val="051D40"/>
                </a:solidFill>
                <a:latin typeface="Times New Roman Bold"/>
                <a:ea typeface="Times New Roman Bold"/>
                <a:cs typeface="Times New Roman Bold"/>
                <a:sym typeface="Times New Roman Bold"/>
              </a:rPr>
              <a:t>Objective: </a:t>
            </a:r>
            <a:r>
              <a:rPr lang="en-US" sz="2499">
                <a:solidFill>
                  <a:srgbClr val="051D40"/>
                </a:solidFill>
                <a:latin typeface="Times New Roman"/>
                <a:ea typeface="Times New Roman"/>
                <a:cs typeface="Times New Roman"/>
                <a:sym typeface="Times New Roman"/>
              </a:rPr>
              <a:t>Analyze the retention of users on a weekly basis after signing up for a product.</a:t>
            </a:r>
          </a:p>
          <a:p>
            <a:pPr algn="l">
              <a:lnSpc>
                <a:spcPts val="3499"/>
              </a:lnSpc>
            </a:pPr>
            <a:r>
              <a:rPr lang="en-US" sz="2499">
                <a:solidFill>
                  <a:srgbClr val="051D40"/>
                </a:solidFill>
                <a:latin typeface="Times New Roman Bold"/>
                <a:ea typeface="Times New Roman Bold"/>
                <a:cs typeface="Times New Roman Bold"/>
                <a:sym typeface="Times New Roman Bold"/>
              </a:rPr>
              <a:t>Your Task: </a:t>
            </a:r>
            <a:r>
              <a:rPr lang="en-US" sz="2499">
                <a:solidFill>
                  <a:srgbClr val="051D40"/>
                </a:solidFill>
                <a:latin typeface="Times New Roman"/>
                <a:ea typeface="Times New Roman"/>
                <a:cs typeface="Times New Roman"/>
                <a:sym typeface="Times New Roman"/>
              </a:rPr>
              <a:t>Write an SQL query to calculate the weekly retention of users based on their sign-up cohort.</a:t>
            </a:r>
          </a:p>
        </p:txBody>
      </p:sp>
      <p:sp>
        <p:nvSpPr>
          <p:cNvPr name="TextBox 22" id="22"/>
          <p:cNvSpPr txBox="true"/>
          <p:nvPr/>
        </p:nvSpPr>
        <p:spPr>
          <a:xfrm rot="0">
            <a:off x="8086048" y="5720579"/>
            <a:ext cx="7937519" cy="469863"/>
          </a:xfrm>
          <a:prstGeom prst="rect">
            <a:avLst/>
          </a:prstGeom>
        </p:spPr>
        <p:txBody>
          <a:bodyPr anchor="t" rtlCol="false" tIns="0" lIns="0" bIns="0" rIns="0">
            <a:spAutoFit/>
          </a:bodyPr>
          <a:lstStyle/>
          <a:p>
            <a:pPr algn="l">
              <a:lnSpc>
                <a:spcPts val="3499"/>
              </a:lnSpc>
            </a:pPr>
            <a:r>
              <a:rPr lang="en-US" sz="2499">
                <a:solidFill>
                  <a:srgbClr val="051D40"/>
                </a:solidFill>
                <a:latin typeface="Times New Roman Bold"/>
                <a:ea typeface="Times New Roman Bold"/>
                <a:cs typeface="Times New Roman Bold"/>
                <a:sym typeface="Times New Roman Bold"/>
              </a:rPr>
              <a:t>Query Result: </a:t>
            </a:r>
          </a:p>
        </p:txBody>
      </p:sp>
      <p:sp>
        <p:nvSpPr>
          <p:cNvPr name="TextBox 23" id="23"/>
          <p:cNvSpPr txBox="true"/>
          <p:nvPr/>
        </p:nvSpPr>
        <p:spPr>
          <a:xfrm rot="0">
            <a:off x="1028700" y="4465258"/>
            <a:ext cx="6486181" cy="890681"/>
          </a:xfrm>
          <a:prstGeom prst="rect">
            <a:avLst/>
          </a:prstGeom>
        </p:spPr>
        <p:txBody>
          <a:bodyPr anchor="t" rtlCol="false" tIns="0" lIns="0" bIns="0" rIns="0">
            <a:spAutoFit/>
          </a:bodyPr>
          <a:lstStyle/>
          <a:p>
            <a:pPr algn="l" marL="0" indent="0" lvl="0">
              <a:lnSpc>
                <a:spcPts val="6553"/>
              </a:lnSpc>
              <a:spcBef>
                <a:spcPct val="0"/>
              </a:spcBef>
            </a:pPr>
            <a:r>
              <a:rPr lang="en-US" sz="4680">
                <a:solidFill>
                  <a:srgbClr val="FDFDFD"/>
                </a:solidFill>
                <a:latin typeface="Times New Roman Bold"/>
                <a:ea typeface="Times New Roman Bold"/>
                <a:cs typeface="Times New Roman Bold"/>
                <a:sym typeface="Times New Roman Bold"/>
              </a:rPr>
              <a:t>SQL Task:</a:t>
            </a:r>
          </a:p>
        </p:txBody>
      </p:sp>
      <p:sp>
        <p:nvSpPr>
          <p:cNvPr name="TextBox 24" id="24"/>
          <p:cNvSpPr txBox="true"/>
          <p:nvPr/>
        </p:nvSpPr>
        <p:spPr>
          <a:xfrm rot="0">
            <a:off x="8086048" y="2872797"/>
            <a:ext cx="7937519" cy="469863"/>
          </a:xfrm>
          <a:prstGeom prst="rect">
            <a:avLst/>
          </a:prstGeom>
        </p:spPr>
        <p:txBody>
          <a:bodyPr anchor="t" rtlCol="false" tIns="0" lIns="0" bIns="0" rIns="0">
            <a:spAutoFit/>
          </a:bodyPr>
          <a:lstStyle/>
          <a:p>
            <a:pPr algn="l">
              <a:lnSpc>
                <a:spcPts val="3499"/>
              </a:lnSpc>
            </a:pPr>
            <a:r>
              <a:rPr lang="en-US" sz="2499">
                <a:solidFill>
                  <a:srgbClr val="051D40"/>
                </a:solidFill>
                <a:latin typeface="Times New Roman Bold"/>
                <a:ea typeface="Times New Roman Bold"/>
                <a:cs typeface="Times New Roman Bold"/>
                <a:sym typeface="Times New Roman Bold"/>
              </a:rPr>
              <a:t>SQL Query:</a:t>
            </a:r>
          </a:p>
        </p:txBody>
      </p:sp>
      <p:sp>
        <p:nvSpPr>
          <p:cNvPr name="TextBox 25" id="25"/>
          <p:cNvSpPr txBox="true"/>
          <p:nvPr/>
        </p:nvSpPr>
        <p:spPr>
          <a:xfrm rot="0">
            <a:off x="8086048" y="3355063"/>
            <a:ext cx="9173252" cy="2222314"/>
          </a:xfrm>
          <a:prstGeom prst="rect">
            <a:avLst/>
          </a:prstGeom>
        </p:spPr>
        <p:txBody>
          <a:bodyPr anchor="t" rtlCol="false" tIns="0" lIns="0" bIns="0" rIns="0">
            <a:spAutoFit/>
          </a:bodyPr>
          <a:lstStyle/>
          <a:p>
            <a:pPr algn="l">
              <a:lnSpc>
                <a:spcPts val="3499"/>
              </a:lnSpc>
            </a:pPr>
            <a:r>
              <a:rPr lang="en-US" sz="2499">
                <a:solidFill>
                  <a:srgbClr val="051D40"/>
                </a:solidFill>
                <a:latin typeface="Times New Roman"/>
                <a:ea typeface="Times New Roman"/>
                <a:cs typeface="Times New Roman"/>
                <a:sym typeface="Times New Roman"/>
              </a:rPr>
              <a:t>select user_id,</a:t>
            </a:r>
          </a:p>
          <a:p>
            <a:pPr algn="l">
              <a:lnSpc>
                <a:spcPts val="3499"/>
              </a:lnSpc>
            </a:pPr>
            <a:r>
              <a:rPr lang="en-US" sz="2499">
                <a:solidFill>
                  <a:srgbClr val="051D40"/>
                </a:solidFill>
                <a:latin typeface="Times New Roman"/>
                <a:ea typeface="Times New Roman"/>
                <a:cs typeface="Times New Roman"/>
                <a:sym typeface="Times New Roman"/>
              </a:rPr>
              <a:t>    created_at</a:t>
            </a:r>
          </a:p>
          <a:p>
            <a:pPr algn="l">
              <a:lnSpc>
                <a:spcPts val="3499"/>
              </a:lnSpc>
            </a:pPr>
            <a:r>
              <a:rPr lang="en-US" sz="2499">
                <a:solidFill>
                  <a:srgbClr val="051D40"/>
                </a:solidFill>
                <a:latin typeface="Times New Roman"/>
                <a:ea typeface="Times New Roman"/>
                <a:cs typeface="Times New Roman"/>
                <a:sym typeface="Times New Roman"/>
              </a:rPr>
              <a:t>from users</a:t>
            </a:r>
          </a:p>
          <a:p>
            <a:pPr algn="l">
              <a:lnSpc>
                <a:spcPts val="3499"/>
              </a:lnSpc>
            </a:pPr>
            <a:r>
              <a:rPr lang="en-US" sz="2499">
                <a:solidFill>
                  <a:srgbClr val="051D40"/>
                </a:solidFill>
                <a:latin typeface="Times New Roman"/>
                <a:ea typeface="Times New Roman"/>
                <a:cs typeface="Times New Roman"/>
                <a:sym typeface="Times New Roman"/>
              </a:rPr>
              <a:t>where created_at &gt; '2014-05-01'</a:t>
            </a:r>
          </a:p>
          <a:p>
            <a:pPr algn="l">
              <a:lnSpc>
                <a:spcPts val="3499"/>
              </a:lnSpc>
            </a:pPr>
            <a:r>
              <a:rPr lang="en-US" sz="2499">
                <a:solidFill>
                  <a:srgbClr val="051D40"/>
                </a:solidFill>
                <a:latin typeface="Times New Roman"/>
                <a:ea typeface="Times New Roman"/>
                <a:cs typeface="Times New Roman"/>
                <a:sym typeface="Times New Roman"/>
              </a:rPr>
              <a:t>order by user_id;</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7922514" y="-2630668"/>
            <a:ext cx="15178802" cy="15178802"/>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38100" cap="sq">
              <a:solidFill>
                <a:srgbClr val="145DA0"/>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7503865" y="-1939873"/>
            <a:ext cx="13881919" cy="13881919"/>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6730709" y="2679253"/>
            <a:ext cx="373607" cy="373607"/>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38100" cap="sq">
              <a:solidFill>
                <a:srgbClr val="00569E"/>
              </a:solidFill>
              <a:prstDash val="solid"/>
              <a:miter/>
            </a:ln>
          </p:spPr>
        </p:sp>
        <p:sp>
          <p:nvSpPr>
            <p:cNvPr name="TextBox 10" id="10"/>
            <p:cNvSpPr txBox="true"/>
            <p:nvPr/>
          </p:nvSpPr>
          <p:spPr>
            <a:xfrm>
              <a:off x="76200" y="28575"/>
              <a:ext cx="660400" cy="708025"/>
            </a:xfrm>
            <a:prstGeom prst="rect">
              <a:avLst/>
            </a:prstGeom>
          </p:spPr>
          <p:txBody>
            <a:bodyPr anchor="ctr" rtlCol="false" tIns="0" lIns="0" bIns="0" rIns="0"/>
            <a:lstStyle/>
            <a:p>
              <a:pPr algn="ctr">
                <a:lnSpc>
                  <a:spcPts val="3640"/>
                </a:lnSpc>
              </a:pPr>
            </a:p>
          </p:txBody>
        </p:sp>
      </p:grpSp>
      <p:grpSp>
        <p:nvGrpSpPr>
          <p:cNvPr name="Group 11" id="11"/>
          <p:cNvGrpSpPr/>
          <p:nvPr/>
        </p:nvGrpSpPr>
        <p:grpSpPr>
          <a:xfrm rot="0">
            <a:off x="7045691" y="4272626"/>
            <a:ext cx="373607" cy="373607"/>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38100" cap="sq">
              <a:solidFill>
                <a:srgbClr val="00569E"/>
              </a:solidFill>
              <a:prstDash val="solid"/>
              <a:miter/>
            </a:ln>
          </p:spPr>
        </p:sp>
        <p:sp>
          <p:nvSpPr>
            <p:cNvPr name="TextBox 13" id="13"/>
            <p:cNvSpPr txBox="true"/>
            <p:nvPr/>
          </p:nvSpPr>
          <p:spPr>
            <a:xfrm>
              <a:off x="76200" y="28575"/>
              <a:ext cx="660400" cy="708025"/>
            </a:xfrm>
            <a:prstGeom prst="rect">
              <a:avLst/>
            </a:prstGeom>
          </p:spPr>
          <p:txBody>
            <a:bodyPr anchor="ctr" rtlCol="false" tIns="0" lIns="0" bIns="0" rIns="0"/>
            <a:lstStyle/>
            <a:p>
              <a:pPr algn="ctr">
                <a:lnSpc>
                  <a:spcPts val="3640"/>
                </a:lnSpc>
              </a:pPr>
            </a:p>
          </p:txBody>
        </p:sp>
      </p:grpSp>
      <p:grpSp>
        <p:nvGrpSpPr>
          <p:cNvPr name="Group 14" id="14"/>
          <p:cNvGrpSpPr/>
          <p:nvPr/>
        </p:nvGrpSpPr>
        <p:grpSpPr>
          <a:xfrm rot="0">
            <a:off x="6730709" y="7216397"/>
            <a:ext cx="373607" cy="373607"/>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38100" cap="sq">
              <a:solidFill>
                <a:srgbClr val="00569E"/>
              </a:solidFill>
              <a:prstDash val="solid"/>
              <a:miter/>
            </a:ln>
          </p:spPr>
        </p:sp>
        <p:sp>
          <p:nvSpPr>
            <p:cNvPr name="TextBox 16" id="16"/>
            <p:cNvSpPr txBox="true"/>
            <p:nvPr/>
          </p:nvSpPr>
          <p:spPr>
            <a:xfrm>
              <a:off x="76200" y="28575"/>
              <a:ext cx="660400" cy="708025"/>
            </a:xfrm>
            <a:prstGeom prst="rect">
              <a:avLst/>
            </a:prstGeom>
          </p:spPr>
          <p:txBody>
            <a:bodyPr anchor="ctr" rtlCol="false" tIns="0" lIns="0" bIns="0" rIns="0"/>
            <a:lstStyle/>
            <a:p>
              <a:pPr algn="ctr">
                <a:lnSpc>
                  <a:spcPts val="3640"/>
                </a:lnSpc>
              </a:pPr>
            </a:p>
          </p:txBody>
        </p:sp>
      </p:grpSp>
      <p:grpSp>
        <p:nvGrpSpPr>
          <p:cNvPr name="Group 17" id="17"/>
          <p:cNvGrpSpPr/>
          <p:nvPr/>
        </p:nvGrpSpPr>
        <p:grpSpPr>
          <a:xfrm rot="0">
            <a:off x="7045691" y="5597931"/>
            <a:ext cx="373607" cy="373607"/>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38100" cap="sq">
              <a:solidFill>
                <a:srgbClr val="00569E"/>
              </a:solidFill>
              <a:prstDash val="solid"/>
              <a:miter/>
            </a:ln>
          </p:spPr>
        </p:sp>
        <p:sp>
          <p:nvSpPr>
            <p:cNvPr name="TextBox 19" id="19"/>
            <p:cNvSpPr txBox="true"/>
            <p:nvPr/>
          </p:nvSpPr>
          <p:spPr>
            <a:xfrm>
              <a:off x="76200" y="28575"/>
              <a:ext cx="660400" cy="708025"/>
            </a:xfrm>
            <a:prstGeom prst="rect">
              <a:avLst/>
            </a:prstGeom>
          </p:spPr>
          <p:txBody>
            <a:bodyPr anchor="ctr" rtlCol="false" tIns="0" lIns="0" bIns="0" rIns="0"/>
            <a:lstStyle/>
            <a:p>
              <a:pPr algn="ctr">
                <a:lnSpc>
                  <a:spcPts val="3640"/>
                </a:lnSpc>
              </a:pPr>
            </a:p>
          </p:txBody>
        </p:sp>
      </p:grpSp>
      <p:sp>
        <p:nvSpPr>
          <p:cNvPr name="Freeform 20" id="20"/>
          <p:cNvSpPr/>
          <p:nvPr/>
        </p:nvSpPr>
        <p:spPr>
          <a:xfrm flipH="false" flipV="false" rot="0">
            <a:off x="10242958" y="5888138"/>
            <a:ext cx="4158242" cy="4021657"/>
          </a:xfrm>
          <a:custGeom>
            <a:avLst/>
            <a:gdLst/>
            <a:ahLst/>
            <a:cxnLst/>
            <a:rect r="r" b="b" t="t" l="l"/>
            <a:pathLst>
              <a:path h="4021657" w="4158242">
                <a:moveTo>
                  <a:pt x="0" y="0"/>
                </a:moveTo>
                <a:lnTo>
                  <a:pt x="4158242" y="0"/>
                </a:lnTo>
                <a:lnTo>
                  <a:pt x="4158242" y="4021657"/>
                </a:lnTo>
                <a:lnTo>
                  <a:pt x="0" y="4021657"/>
                </a:lnTo>
                <a:lnTo>
                  <a:pt x="0" y="0"/>
                </a:lnTo>
                <a:close/>
              </a:path>
            </a:pathLst>
          </a:custGeom>
          <a:blipFill>
            <a:blip r:embed="rId2"/>
            <a:stretch>
              <a:fillRect l="0" t="0" r="0" b="0"/>
            </a:stretch>
          </a:blipFill>
        </p:spPr>
      </p:sp>
      <p:sp>
        <p:nvSpPr>
          <p:cNvPr name="TextBox 21" id="21"/>
          <p:cNvSpPr txBox="true"/>
          <p:nvPr/>
        </p:nvSpPr>
        <p:spPr>
          <a:xfrm rot="0">
            <a:off x="8086048" y="281955"/>
            <a:ext cx="9173252" cy="2222314"/>
          </a:xfrm>
          <a:prstGeom prst="rect">
            <a:avLst/>
          </a:prstGeom>
        </p:spPr>
        <p:txBody>
          <a:bodyPr anchor="t" rtlCol="false" tIns="0" lIns="0" bIns="0" rIns="0">
            <a:spAutoFit/>
          </a:bodyPr>
          <a:lstStyle/>
          <a:p>
            <a:pPr algn="l">
              <a:lnSpc>
                <a:spcPts val="3499"/>
              </a:lnSpc>
            </a:pPr>
            <a:r>
              <a:rPr lang="en-US" sz="2499">
                <a:solidFill>
                  <a:srgbClr val="051D40"/>
                </a:solidFill>
                <a:latin typeface="Times New Roman Bold"/>
                <a:ea typeface="Times New Roman Bold"/>
                <a:cs typeface="Times New Roman Bold"/>
                <a:sym typeface="Times New Roman Bold"/>
              </a:rPr>
              <a:t>D) Weekly Engagement Per Device:</a:t>
            </a:r>
          </a:p>
          <a:p>
            <a:pPr algn="l">
              <a:lnSpc>
                <a:spcPts val="3499"/>
              </a:lnSpc>
            </a:pPr>
            <a:r>
              <a:rPr lang="en-US" sz="2499">
                <a:solidFill>
                  <a:srgbClr val="051D40"/>
                </a:solidFill>
                <a:latin typeface="Times New Roman Bold"/>
                <a:ea typeface="Times New Roman Bold"/>
                <a:cs typeface="Times New Roman Bold"/>
                <a:sym typeface="Times New Roman Bold"/>
              </a:rPr>
              <a:t>Objective: </a:t>
            </a:r>
            <a:r>
              <a:rPr lang="en-US" sz="2499">
                <a:solidFill>
                  <a:srgbClr val="051D40"/>
                </a:solidFill>
                <a:latin typeface="Times New Roman"/>
                <a:ea typeface="Times New Roman"/>
                <a:cs typeface="Times New Roman"/>
                <a:sym typeface="Times New Roman"/>
              </a:rPr>
              <a:t>Measure the activeness of users on a weekly basis per device.</a:t>
            </a:r>
          </a:p>
          <a:p>
            <a:pPr algn="l">
              <a:lnSpc>
                <a:spcPts val="3499"/>
              </a:lnSpc>
            </a:pPr>
            <a:r>
              <a:rPr lang="en-US" sz="2499">
                <a:solidFill>
                  <a:srgbClr val="051D40"/>
                </a:solidFill>
                <a:latin typeface="Times New Roman Bold"/>
                <a:ea typeface="Times New Roman Bold"/>
                <a:cs typeface="Times New Roman Bold"/>
                <a:sym typeface="Times New Roman Bold"/>
              </a:rPr>
              <a:t>Your Task: </a:t>
            </a:r>
            <a:r>
              <a:rPr lang="en-US" sz="2499">
                <a:solidFill>
                  <a:srgbClr val="051D40"/>
                </a:solidFill>
                <a:latin typeface="Times New Roman"/>
                <a:ea typeface="Times New Roman"/>
                <a:cs typeface="Times New Roman"/>
                <a:sym typeface="Times New Roman"/>
              </a:rPr>
              <a:t>Write an SQL query to calculate the weekly engagement per device.</a:t>
            </a:r>
          </a:p>
        </p:txBody>
      </p:sp>
      <p:sp>
        <p:nvSpPr>
          <p:cNvPr name="TextBox 22" id="22"/>
          <p:cNvSpPr txBox="true"/>
          <p:nvPr/>
        </p:nvSpPr>
        <p:spPr>
          <a:xfrm rot="0">
            <a:off x="8086048" y="5792385"/>
            <a:ext cx="7937519" cy="469863"/>
          </a:xfrm>
          <a:prstGeom prst="rect">
            <a:avLst/>
          </a:prstGeom>
        </p:spPr>
        <p:txBody>
          <a:bodyPr anchor="t" rtlCol="false" tIns="0" lIns="0" bIns="0" rIns="0">
            <a:spAutoFit/>
          </a:bodyPr>
          <a:lstStyle/>
          <a:p>
            <a:pPr algn="l">
              <a:lnSpc>
                <a:spcPts val="3499"/>
              </a:lnSpc>
            </a:pPr>
            <a:r>
              <a:rPr lang="en-US" sz="2499">
                <a:solidFill>
                  <a:srgbClr val="051D40"/>
                </a:solidFill>
                <a:latin typeface="Times New Roman Bold"/>
                <a:ea typeface="Times New Roman Bold"/>
                <a:cs typeface="Times New Roman Bold"/>
                <a:sym typeface="Times New Roman Bold"/>
              </a:rPr>
              <a:t>Query Result: </a:t>
            </a:r>
          </a:p>
        </p:txBody>
      </p:sp>
      <p:sp>
        <p:nvSpPr>
          <p:cNvPr name="TextBox 23" id="23"/>
          <p:cNvSpPr txBox="true"/>
          <p:nvPr/>
        </p:nvSpPr>
        <p:spPr>
          <a:xfrm rot="0">
            <a:off x="1028700" y="4465258"/>
            <a:ext cx="6486181" cy="890681"/>
          </a:xfrm>
          <a:prstGeom prst="rect">
            <a:avLst/>
          </a:prstGeom>
        </p:spPr>
        <p:txBody>
          <a:bodyPr anchor="t" rtlCol="false" tIns="0" lIns="0" bIns="0" rIns="0">
            <a:spAutoFit/>
          </a:bodyPr>
          <a:lstStyle/>
          <a:p>
            <a:pPr algn="l" marL="0" indent="0" lvl="0">
              <a:lnSpc>
                <a:spcPts val="6553"/>
              </a:lnSpc>
              <a:spcBef>
                <a:spcPct val="0"/>
              </a:spcBef>
            </a:pPr>
            <a:r>
              <a:rPr lang="en-US" sz="4680">
                <a:solidFill>
                  <a:srgbClr val="FDFDFD"/>
                </a:solidFill>
                <a:latin typeface="Times New Roman Bold"/>
                <a:ea typeface="Times New Roman Bold"/>
                <a:cs typeface="Times New Roman Bold"/>
                <a:sym typeface="Times New Roman Bold"/>
              </a:rPr>
              <a:t>SQL Task:</a:t>
            </a:r>
          </a:p>
        </p:txBody>
      </p:sp>
      <p:sp>
        <p:nvSpPr>
          <p:cNvPr name="TextBox 24" id="24"/>
          <p:cNvSpPr txBox="true"/>
          <p:nvPr/>
        </p:nvSpPr>
        <p:spPr>
          <a:xfrm rot="0">
            <a:off x="8086048" y="2573482"/>
            <a:ext cx="7937519" cy="469863"/>
          </a:xfrm>
          <a:prstGeom prst="rect">
            <a:avLst/>
          </a:prstGeom>
        </p:spPr>
        <p:txBody>
          <a:bodyPr anchor="t" rtlCol="false" tIns="0" lIns="0" bIns="0" rIns="0">
            <a:spAutoFit/>
          </a:bodyPr>
          <a:lstStyle/>
          <a:p>
            <a:pPr algn="l">
              <a:lnSpc>
                <a:spcPts val="3499"/>
              </a:lnSpc>
            </a:pPr>
            <a:r>
              <a:rPr lang="en-US" sz="2499">
                <a:solidFill>
                  <a:srgbClr val="051D40"/>
                </a:solidFill>
                <a:latin typeface="Times New Roman Bold"/>
                <a:ea typeface="Times New Roman Bold"/>
                <a:cs typeface="Times New Roman Bold"/>
                <a:sym typeface="Times New Roman Bold"/>
              </a:rPr>
              <a:t>SQL Query:</a:t>
            </a:r>
          </a:p>
        </p:txBody>
      </p:sp>
      <p:sp>
        <p:nvSpPr>
          <p:cNvPr name="TextBox 25" id="25"/>
          <p:cNvSpPr txBox="true"/>
          <p:nvPr/>
        </p:nvSpPr>
        <p:spPr>
          <a:xfrm rot="0">
            <a:off x="8086048" y="3032800"/>
            <a:ext cx="9173252" cy="2660427"/>
          </a:xfrm>
          <a:prstGeom prst="rect">
            <a:avLst/>
          </a:prstGeom>
        </p:spPr>
        <p:txBody>
          <a:bodyPr anchor="t" rtlCol="false" tIns="0" lIns="0" bIns="0" rIns="0">
            <a:spAutoFit/>
          </a:bodyPr>
          <a:lstStyle/>
          <a:p>
            <a:pPr algn="l">
              <a:lnSpc>
                <a:spcPts val="3499"/>
              </a:lnSpc>
            </a:pPr>
            <a:r>
              <a:rPr lang="en-US" sz="2499">
                <a:solidFill>
                  <a:srgbClr val="051D40"/>
                </a:solidFill>
                <a:latin typeface="Times New Roman"/>
                <a:ea typeface="Times New Roman"/>
                <a:cs typeface="Times New Roman"/>
                <a:sym typeface="Times New Roman"/>
              </a:rPr>
              <a:t>select week(occurred_at) as Weeks,</a:t>
            </a:r>
          </a:p>
          <a:p>
            <a:pPr algn="l">
              <a:lnSpc>
                <a:spcPts val="3499"/>
              </a:lnSpc>
            </a:pPr>
            <a:r>
              <a:rPr lang="en-US" sz="2499">
                <a:solidFill>
                  <a:srgbClr val="051D40"/>
                </a:solidFill>
                <a:latin typeface="Times New Roman"/>
                <a:ea typeface="Times New Roman"/>
                <a:cs typeface="Times New Roman"/>
                <a:sym typeface="Times New Roman"/>
              </a:rPr>
              <a:t> device, count(distinct user_id)as User_engagement</a:t>
            </a:r>
          </a:p>
          <a:p>
            <a:pPr algn="l">
              <a:lnSpc>
                <a:spcPts val="3499"/>
              </a:lnSpc>
            </a:pPr>
            <a:r>
              <a:rPr lang="en-US" sz="2499">
                <a:solidFill>
                  <a:srgbClr val="051D40"/>
                </a:solidFill>
                <a:latin typeface="Times New Roman"/>
                <a:ea typeface="Times New Roman"/>
                <a:cs typeface="Times New Roman"/>
                <a:sym typeface="Times New Roman"/>
              </a:rPr>
              <a:t>from events</a:t>
            </a:r>
          </a:p>
          <a:p>
            <a:pPr algn="l">
              <a:lnSpc>
                <a:spcPts val="3499"/>
              </a:lnSpc>
            </a:pPr>
            <a:r>
              <a:rPr lang="en-US" sz="2499">
                <a:solidFill>
                  <a:srgbClr val="051D40"/>
                </a:solidFill>
                <a:latin typeface="Times New Roman"/>
                <a:ea typeface="Times New Roman"/>
                <a:cs typeface="Times New Roman"/>
                <a:sym typeface="Times New Roman"/>
              </a:rPr>
              <a:t>group by device,</a:t>
            </a:r>
          </a:p>
          <a:p>
            <a:pPr algn="l">
              <a:lnSpc>
                <a:spcPts val="3499"/>
              </a:lnSpc>
            </a:pPr>
            <a:r>
              <a:rPr lang="en-US" sz="2499">
                <a:solidFill>
                  <a:srgbClr val="051D40"/>
                </a:solidFill>
                <a:latin typeface="Times New Roman"/>
                <a:ea typeface="Times New Roman"/>
                <a:cs typeface="Times New Roman"/>
                <a:sym typeface="Times New Roman"/>
              </a:rPr>
              <a:t> week(occurred_at)</a:t>
            </a:r>
          </a:p>
          <a:p>
            <a:pPr algn="l">
              <a:lnSpc>
                <a:spcPts val="3499"/>
              </a:lnSpc>
            </a:pPr>
            <a:r>
              <a:rPr lang="en-US" sz="2499">
                <a:solidFill>
                  <a:srgbClr val="051D40"/>
                </a:solidFill>
                <a:latin typeface="Times New Roman"/>
                <a:ea typeface="Times New Roman"/>
                <a:cs typeface="Times New Roman"/>
                <a:sym typeface="Times New Roman"/>
              </a:rPr>
              <a:t>order by week(occurred_at);</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7922514" y="-2630668"/>
            <a:ext cx="15178802" cy="15178802"/>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38100" cap="sq">
              <a:solidFill>
                <a:srgbClr val="145DA0"/>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7503865" y="-1939873"/>
            <a:ext cx="13881919" cy="13881919"/>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6730709" y="2679253"/>
            <a:ext cx="373607" cy="373607"/>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38100" cap="sq">
              <a:solidFill>
                <a:srgbClr val="00569E"/>
              </a:solidFill>
              <a:prstDash val="solid"/>
              <a:miter/>
            </a:ln>
          </p:spPr>
        </p:sp>
        <p:sp>
          <p:nvSpPr>
            <p:cNvPr name="TextBox 10" id="10"/>
            <p:cNvSpPr txBox="true"/>
            <p:nvPr/>
          </p:nvSpPr>
          <p:spPr>
            <a:xfrm>
              <a:off x="76200" y="28575"/>
              <a:ext cx="660400" cy="708025"/>
            </a:xfrm>
            <a:prstGeom prst="rect">
              <a:avLst/>
            </a:prstGeom>
          </p:spPr>
          <p:txBody>
            <a:bodyPr anchor="ctr" rtlCol="false" tIns="0" lIns="0" bIns="0" rIns="0"/>
            <a:lstStyle/>
            <a:p>
              <a:pPr algn="ctr">
                <a:lnSpc>
                  <a:spcPts val="3640"/>
                </a:lnSpc>
              </a:pPr>
            </a:p>
          </p:txBody>
        </p:sp>
      </p:grpSp>
      <p:grpSp>
        <p:nvGrpSpPr>
          <p:cNvPr name="Group 11" id="11"/>
          <p:cNvGrpSpPr/>
          <p:nvPr/>
        </p:nvGrpSpPr>
        <p:grpSpPr>
          <a:xfrm rot="0">
            <a:off x="7045691" y="4272626"/>
            <a:ext cx="373607" cy="373607"/>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38100" cap="sq">
              <a:solidFill>
                <a:srgbClr val="00569E"/>
              </a:solidFill>
              <a:prstDash val="solid"/>
              <a:miter/>
            </a:ln>
          </p:spPr>
        </p:sp>
        <p:sp>
          <p:nvSpPr>
            <p:cNvPr name="TextBox 13" id="13"/>
            <p:cNvSpPr txBox="true"/>
            <p:nvPr/>
          </p:nvSpPr>
          <p:spPr>
            <a:xfrm>
              <a:off x="76200" y="28575"/>
              <a:ext cx="660400" cy="708025"/>
            </a:xfrm>
            <a:prstGeom prst="rect">
              <a:avLst/>
            </a:prstGeom>
          </p:spPr>
          <p:txBody>
            <a:bodyPr anchor="ctr" rtlCol="false" tIns="0" lIns="0" bIns="0" rIns="0"/>
            <a:lstStyle/>
            <a:p>
              <a:pPr algn="ctr">
                <a:lnSpc>
                  <a:spcPts val="3640"/>
                </a:lnSpc>
              </a:pPr>
            </a:p>
          </p:txBody>
        </p:sp>
      </p:grpSp>
      <p:grpSp>
        <p:nvGrpSpPr>
          <p:cNvPr name="Group 14" id="14"/>
          <p:cNvGrpSpPr/>
          <p:nvPr/>
        </p:nvGrpSpPr>
        <p:grpSpPr>
          <a:xfrm rot="0">
            <a:off x="6730709" y="7216397"/>
            <a:ext cx="373607" cy="373607"/>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38100" cap="sq">
              <a:solidFill>
                <a:srgbClr val="00569E"/>
              </a:solidFill>
              <a:prstDash val="solid"/>
              <a:miter/>
            </a:ln>
          </p:spPr>
        </p:sp>
        <p:sp>
          <p:nvSpPr>
            <p:cNvPr name="TextBox 16" id="16"/>
            <p:cNvSpPr txBox="true"/>
            <p:nvPr/>
          </p:nvSpPr>
          <p:spPr>
            <a:xfrm>
              <a:off x="76200" y="28575"/>
              <a:ext cx="660400" cy="708025"/>
            </a:xfrm>
            <a:prstGeom prst="rect">
              <a:avLst/>
            </a:prstGeom>
          </p:spPr>
          <p:txBody>
            <a:bodyPr anchor="ctr" rtlCol="false" tIns="0" lIns="0" bIns="0" rIns="0"/>
            <a:lstStyle/>
            <a:p>
              <a:pPr algn="ctr">
                <a:lnSpc>
                  <a:spcPts val="3640"/>
                </a:lnSpc>
              </a:pPr>
            </a:p>
          </p:txBody>
        </p:sp>
      </p:grpSp>
      <p:grpSp>
        <p:nvGrpSpPr>
          <p:cNvPr name="Group 17" id="17"/>
          <p:cNvGrpSpPr/>
          <p:nvPr/>
        </p:nvGrpSpPr>
        <p:grpSpPr>
          <a:xfrm rot="0">
            <a:off x="7045691" y="5597931"/>
            <a:ext cx="373607" cy="373607"/>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38100" cap="sq">
              <a:solidFill>
                <a:srgbClr val="00569E"/>
              </a:solidFill>
              <a:prstDash val="solid"/>
              <a:miter/>
            </a:ln>
          </p:spPr>
        </p:sp>
        <p:sp>
          <p:nvSpPr>
            <p:cNvPr name="TextBox 19" id="19"/>
            <p:cNvSpPr txBox="true"/>
            <p:nvPr/>
          </p:nvSpPr>
          <p:spPr>
            <a:xfrm>
              <a:off x="76200" y="28575"/>
              <a:ext cx="660400" cy="708025"/>
            </a:xfrm>
            <a:prstGeom prst="rect">
              <a:avLst/>
            </a:prstGeom>
          </p:spPr>
          <p:txBody>
            <a:bodyPr anchor="ctr" rtlCol="false" tIns="0" lIns="0" bIns="0" rIns="0"/>
            <a:lstStyle/>
            <a:p>
              <a:pPr algn="ctr">
                <a:lnSpc>
                  <a:spcPts val="3640"/>
                </a:lnSpc>
              </a:pPr>
            </a:p>
          </p:txBody>
        </p:sp>
      </p:grpSp>
      <p:sp>
        <p:nvSpPr>
          <p:cNvPr name="Freeform 20" id="20"/>
          <p:cNvSpPr/>
          <p:nvPr/>
        </p:nvSpPr>
        <p:spPr>
          <a:xfrm flipH="false" flipV="false" rot="0">
            <a:off x="10142298" y="5468730"/>
            <a:ext cx="5060752" cy="4328274"/>
          </a:xfrm>
          <a:custGeom>
            <a:avLst/>
            <a:gdLst/>
            <a:ahLst/>
            <a:cxnLst/>
            <a:rect r="r" b="b" t="t" l="l"/>
            <a:pathLst>
              <a:path h="4328274" w="5060752">
                <a:moveTo>
                  <a:pt x="0" y="0"/>
                </a:moveTo>
                <a:lnTo>
                  <a:pt x="5060752" y="0"/>
                </a:lnTo>
                <a:lnTo>
                  <a:pt x="5060752" y="4328274"/>
                </a:lnTo>
                <a:lnTo>
                  <a:pt x="0" y="4328274"/>
                </a:lnTo>
                <a:lnTo>
                  <a:pt x="0" y="0"/>
                </a:lnTo>
                <a:close/>
              </a:path>
            </a:pathLst>
          </a:custGeom>
          <a:blipFill>
            <a:blip r:embed="rId2"/>
            <a:stretch>
              <a:fillRect l="0" t="0" r="0" b="0"/>
            </a:stretch>
          </a:blipFill>
        </p:spPr>
      </p:sp>
      <p:sp>
        <p:nvSpPr>
          <p:cNvPr name="TextBox 21" id="21"/>
          <p:cNvSpPr txBox="true"/>
          <p:nvPr/>
        </p:nvSpPr>
        <p:spPr>
          <a:xfrm rot="0">
            <a:off x="8086048" y="394746"/>
            <a:ext cx="9173252" cy="1784201"/>
          </a:xfrm>
          <a:prstGeom prst="rect">
            <a:avLst/>
          </a:prstGeom>
        </p:spPr>
        <p:txBody>
          <a:bodyPr anchor="t" rtlCol="false" tIns="0" lIns="0" bIns="0" rIns="0">
            <a:spAutoFit/>
          </a:bodyPr>
          <a:lstStyle/>
          <a:p>
            <a:pPr algn="l">
              <a:lnSpc>
                <a:spcPts val="3499"/>
              </a:lnSpc>
            </a:pPr>
            <a:r>
              <a:rPr lang="en-US" sz="2499">
                <a:solidFill>
                  <a:srgbClr val="051D40"/>
                </a:solidFill>
                <a:latin typeface="Times New Roman Bold"/>
                <a:ea typeface="Times New Roman Bold"/>
                <a:cs typeface="Times New Roman Bold"/>
                <a:sym typeface="Times New Roman Bold"/>
              </a:rPr>
              <a:t>E) Email Engagement Analysis:</a:t>
            </a:r>
          </a:p>
          <a:p>
            <a:pPr algn="l">
              <a:lnSpc>
                <a:spcPts val="3499"/>
              </a:lnSpc>
            </a:pPr>
            <a:r>
              <a:rPr lang="en-US" sz="2499">
                <a:solidFill>
                  <a:srgbClr val="051D40"/>
                </a:solidFill>
                <a:latin typeface="Times New Roman Bold"/>
                <a:ea typeface="Times New Roman Bold"/>
                <a:cs typeface="Times New Roman Bold"/>
                <a:sym typeface="Times New Roman Bold"/>
              </a:rPr>
              <a:t>Objective: </a:t>
            </a:r>
            <a:r>
              <a:rPr lang="en-US" sz="2499">
                <a:solidFill>
                  <a:srgbClr val="051D40"/>
                </a:solidFill>
                <a:latin typeface="Times New Roman"/>
                <a:ea typeface="Times New Roman"/>
                <a:cs typeface="Times New Roman"/>
                <a:sym typeface="Times New Roman"/>
              </a:rPr>
              <a:t>Analyze how users are engaging with the email service.</a:t>
            </a:r>
          </a:p>
          <a:p>
            <a:pPr algn="l">
              <a:lnSpc>
                <a:spcPts val="3499"/>
              </a:lnSpc>
            </a:pPr>
            <a:r>
              <a:rPr lang="en-US" sz="2499">
                <a:solidFill>
                  <a:srgbClr val="051D40"/>
                </a:solidFill>
                <a:latin typeface="Times New Roman Bold"/>
                <a:ea typeface="Times New Roman Bold"/>
                <a:cs typeface="Times New Roman Bold"/>
                <a:sym typeface="Times New Roman Bold"/>
              </a:rPr>
              <a:t>Your Task: </a:t>
            </a:r>
            <a:r>
              <a:rPr lang="en-US" sz="2499">
                <a:solidFill>
                  <a:srgbClr val="051D40"/>
                </a:solidFill>
                <a:latin typeface="Times New Roman"/>
                <a:ea typeface="Times New Roman"/>
                <a:cs typeface="Times New Roman"/>
                <a:sym typeface="Times New Roman"/>
              </a:rPr>
              <a:t>Write an SQL query to calculate the email engagement metrics.</a:t>
            </a:r>
          </a:p>
        </p:txBody>
      </p:sp>
      <p:sp>
        <p:nvSpPr>
          <p:cNvPr name="TextBox 22" id="22"/>
          <p:cNvSpPr txBox="true"/>
          <p:nvPr/>
        </p:nvSpPr>
        <p:spPr>
          <a:xfrm rot="0">
            <a:off x="8086048" y="5373480"/>
            <a:ext cx="7937519" cy="469863"/>
          </a:xfrm>
          <a:prstGeom prst="rect">
            <a:avLst/>
          </a:prstGeom>
        </p:spPr>
        <p:txBody>
          <a:bodyPr anchor="t" rtlCol="false" tIns="0" lIns="0" bIns="0" rIns="0">
            <a:spAutoFit/>
          </a:bodyPr>
          <a:lstStyle/>
          <a:p>
            <a:pPr algn="l">
              <a:lnSpc>
                <a:spcPts val="3499"/>
              </a:lnSpc>
            </a:pPr>
            <a:r>
              <a:rPr lang="en-US" sz="2499">
                <a:solidFill>
                  <a:srgbClr val="051D40"/>
                </a:solidFill>
                <a:latin typeface="Times New Roman Bold"/>
                <a:ea typeface="Times New Roman Bold"/>
                <a:cs typeface="Times New Roman Bold"/>
                <a:sym typeface="Times New Roman Bold"/>
              </a:rPr>
              <a:t>Query Result: </a:t>
            </a:r>
          </a:p>
        </p:txBody>
      </p:sp>
      <p:sp>
        <p:nvSpPr>
          <p:cNvPr name="TextBox 23" id="23"/>
          <p:cNvSpPr txBox="true"/>
          <p:nvPr/>
        </p:nvSpPr>
        <p:spPr>
          <a:xfrm rot="0">
            <a:off x="1028700" y="4465258"/>
            <a:ext cx="6486181" cy="890681"/>
          </a:xfrm>
          <a:prstGeom prst="rect">
            <a:avLst/>
          </a:prstGeom>
        </p:spPr>
        <p:txBody>
          <a:bodyPr anchor="t" rtlCol="false" tIns="0" lIns="0" bIns="0" rIns="0">
            <a:spAutoFit/>
          </a:bodyPr>
          <a:lstStyle/>
          <a:p>
            <a:pPr algn="l" marL="0" indent="0" lvl="0">
              <a:lnSpc>
                <a:spcPts val="6553"/>
              </a:lnSpc>
              <a:spcBef>
                <a:spcPct val="0"/>
              </a:spcBef>
            </a:pPr>
            <a:r>
              <a:rPr lang="en-US" sz="4680">
                <a:solidFill>
                  <a:srgbClr val="FDFDFD"/>
                </a:solidFill>
                <a:latin typeface="Times New Roman Bold"/>
                <a:ea typeface="Times New Roman Bold"/>
                <a:cs typeface="Times New Roman Bold"/>
                <a:sym typeface="Times New Roman Bold"/>
              </a:rPr>
              <a:t>SQL Task:</a:t>
            </a:r>
          </a:p>
        </p:txBody>
      </p:sp>
      <p:sp>
        <p:nvSpPr>
          <p:cNvPr name="TextBox 24" id="24"/>
          <p:cNvSpPr txBox="true"/>
          <p:nvPr/>
        </p:nvSpPr>
        <p:spPr>
          <a:xfrm rot="0">
            <a:off x="8086048" y="2221844"/>
            <a:ext cx="7937519" cy="469863"/>
          </a:xfrm>
          <a:prstGeom prst="rect">
            <a:avLst/>
          </a:prstGeom>
        </p:spPr>
        <p:txBody>
          <a:bodyPr anchor="t" rtlCol="false" tIns="0" lIns="0" bIns="0" rIns="0">
            <a:spAutoFit/>
          </a:bodyPr>
          <a:lstStyle/>
          <a:p>
            <a:pPr algn="l">
              <a:lnSpc>
                <a:spcPts val="3499"/>
              </a:lnSpc>
            </a:pPr>
            <a:r>
              <a:rPr lang="en-US" sz="2499">
                <a:solidFill>
                  <a:srgbClr val="051D40"/>
                </a:solidFill>
                <a:latin typeface="Times New Roman Bold"/>
                <a:ea typeface="Times New Roman Bold"/>
                <a:cs typeface="Times New Roman Bold"/>
                <a:sym typeface="Times New Roman Bold"/>
              </a:rPr>
              <a:t>SQL Query:</a:t>
            </a:r>
          </a:p>
        </p:txBody>
      </p:sp>
      <p:sp>
        <p:nvSpPr>
          <p:cNvPr name="TextBox 25" id="25"/>
          <p:cNvSpPr txBox="true"/>
          <p:nvPr/>
        </p:nvSpPr>
        <p:spPr>
          <a:xfrm rot="0">
            <a:off x="8086048" y="2696793"/>
            <a:ext cx="9173252" cy="2660427"/>
          </a:xfrm>
          <a:prstGeom prst="rect">
            <a:avLst/>
          </a:prstGeom>
        </p:spPr>
        <p:txBody>
          <a:bodyPr anchor="t" rtlCol="false" tIns="0" lIns="0" bIns="0" rIns="0">
            <a:spAutoFit/>
          </a:bodyPr>
          <a:lstStyle/>
          <a:p>
            <a:pPr algn="l">
              <a:lnSpc>
                <a:spcPts val="3499"/>
              </a:lnSpc>
            </a:pPr>
            <a:r>
              <a:rPr lang="en-US" sz="2499">
                <a:solidFill>
                  <a:srgbClr val="051D40"/>
                </a:solidFill>
                <a:latin typeface="Times New Roman"/>
                <a:ea typeface="Times New Roman"/>
                <a:cs typeface="Times New Roman"/>
                <a:sym typeface="Times New Roman"/>
              </a:rPr>
              <a:t>select  action,  </a:t>
            </a:r>
          </a:p>
          <a:p>
            <a:pPr algn="l">
              <a:lnSpc>
                <a:spcPts val="3499"/>
              </a:lnSpc>
            </a:pPr>
            <a:r>
              <a:rPr lang="en-US" sz="2499">
                <a:solidFill>
                  <a:srgbClr val="051D40"/>
                </a:solidFill>
                <a:latin typeface="Times New Roman"/>
                <a:ea typeface="Times New Roman"/>
                <a:cs typeface="Times New Roman"/>
                <a:sym typeface="Times New Roman"/>
              </a:rPr>
              <a:t>  extract(month from occurred_at)  as month,</a:t>
            </a:r>
          </a:p>
          <a:p>
            <a:pPr algn="l">
              <a:lnSpc>
                <a:spcPts val="3499"/>
              </a:lnSpc>
            </a:pPr>
            <a:r>
              <a:rPr lang="en-US" sz="2499">
                <a:solidFill>
                  <a:srgbClr val="051D40"/>
                </a:solidFill>
                <a:latin typeface="Times New Roman"/>
                <a:ea typeface="Times New Roman"/>
                <a:cs typeface="Times New Roman"/>
                <a:sym typeface="Times New Roman"/>
              </a:rPr>
              <a:t>  count(action) as number_of_emails</a:t>
            </a:r>
          </a:p>
          <a:p>
            <a:pPr algn="l">
              <a:lnSpc>
                <a:spcPts val="3499"/>
              </a:lnSpc>
            </a:pPr>
            <a:r>
              <a:rPr lang="en-US" sz="2499">
                <a:solidFill>
                  <a:srgbClr val="051D40"/>
                </a:solidFill>
                <a:latin typeface="Times New Roman"/>
                <a:ea typeface="Times New Roman"/>
                <a:cs typeface="Times New Roman"/>
                <a:sym typeface="Times New Roman"/>
              </a:rPr>
              <a:t>from email_events </a:t>
            </a:r>
          </a:p>
          <a:p>
            <a:pPr algn="l">
              <a:lnSpc>
                <a:spcPts val="3499"/>
              </a:lnSpc>
            </a:pPr>
            <a:r>
              <a:rPr lang="en-US" sz="2499">
                <a:solidFill>
                  <a:srgbClr val="051D40"/>
                </a:solidFill>
                <a:latin typeface="Times New Roman"/>
                <a:ea typeface="Times New Roman"/>
                <a:cs typeface="Times New Roman"/>
                <a:sym typeface="Times New Roman"/>
              </a:rPr>
              <a:t>group by action, month</a:t>
            </a:r>
          </a:p>
          <a:p>
            <a:pPr algn="l">
              <a:lnSpc>
                <a:spcPts val="3499"/>
              </a:lnSpc>
            </a:pPr>
            <a:r>
              <a:rPr lang="en-US" sz="2499">
                <a:solidFill>
                  <a:srgbClr val="051D40"/>
                </a:solidFill>
                <a:latin typeface="Times New Roman"/>
                <a:ea typeface="Times New Roman"/>
                <a:cs typeface="Times New Roman"/>
                <a:sym typeface="Times New Roman"/>
              </a:rPr>
              <a:t>order by action, month;</a:t>
            </a:r>
          </a:p>
        </p:txBody>
      </p:sp>
    </p:spTree>
  </p:cSld>
  <p:clrMapOvr>
    <a:masterClrMapping/>
  </p:clrMapOvr>
</p:sld>
</file>

<file path=ppt/slides/slide14.xml><?xml version="1.0" encoding="utf-8"?>
<p:sld xmlns:p="http://schemas.openxmlformats.org/presentationml/2006/main" xmlns:a="http://schemas.openxmlformats.org/drawingml/2006/main">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7922514" y="-2630668"/>
            <a:ext cx="15178802" cy="15178802"/>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38100" cap="sq">
              <a:solidFill>
                <a:srgbClr val="145DA0"/>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7503865" y="-1939873"/>
            <a:ext cx="13881919" cy="13881919"/>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6730709" y="2679253"/>
            <a:ext cx="373607" cy="373607"/>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38100" cap="sq">
              <a:solidFill>
                <a:srgbClr val="00569E"/>
              </a:solidFill>
              <a:prstDash val="solid"/>
              <a:miter/>
            </a:ln>
          </p:spPr>
        </p:sp>
        <p:sp>
          <p:nvSpPr>
            <p:cNvPr name="TextBox 10" id="10"/>
            <p:cNvSpPr txBox="true"/>
            <p:nvPr/>
          </p:nvSpPr>
          <p:spPr>
            <a:xfrm>
              <a:off x="76200" y="28575"/>
              <a:ext cx="660400" cy="708025"/>
            </a:xfrm>
            <a:prstGeom prst="rect">
              <a:avLst/>
            </a:prstGeom>
          </p:spPr>
          <p:txBody>
            <a:bodyPr anchor="ctr" rtlCol="false" tIns="0" lIns="0" bIns="0" rIns="0"/>
            <a:lstStyle/>
            <a:p>
              <a:pPr algn="ctr">
                <a:lnSpc>
                  <a:spcPts val="3640"/>
                </a:lnSpc>
              </a:pPr>
            </a:p>
          </p:txBody>
        </p:sp>
      </p:grpSp>
      <p:grpSp>
        <p:nvGrpSpPr>
          <p:cNvPr name="Group 11" id="11"/>
          <p:cNvGrpSpPr/>
          <p:nvPr/>
        </p:nvGrpSpPr>
        <p:grpSpPr>
          <a:xfrm rot="0">
            <a:off x="7045691" y="4272626"/>
            <a:ext cx="373607" cy="373607"/>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38100" cap="sq">
              <a:solidFill>
                <a:srgbClr val="00569E"/>
              </a:solidFill>
              <a:prstDash val="solid"/>
              <a:miter/>
            </a:ln>
          </p:spPr>
        </p:sp>
        <p:sp>
          <p:nvSpPr>
            <p:cNvPr name="TextBox 13" id="13"/>
            <p:cNvSpPr txBox="true"/>
            <p:nvPr/>
          </p:nvSpPr>
          <p:spPr>
            <a:xfrm>
              <a:off x="76200" y="28575"/>
              <a:ext cx="660400" cy="708025"/>
            </a:xfrm>
            <a:prstGeom prst="rect">
              <a:avLst/>
            </a:prstGeom>
          </p:spPr>
          <p:txBody>
            <a:bodyPr anchor="ctr" rtlCol="false" tIns="0" lIns="0" bIns="0" rIns="0"/>
            <a:lstStyle/>
            <a:p>
              <a:pPr algn="ctr">
                <a:lnSpc>
                  <a:spcPts val="3640"/>
                </a:lnSpc>
              </a:pPr>
            </a:p>
          </p:txBody>
        </p:sp>
      </p:grpSp>
      <p:grpSp>
        <p:nvGrpSpPr>
          <p:cNvPr name="Group 14" id="14"/>
          <p:cNvGrpSpPr/>
          <p:nvPr/>
        </p:nvGrpSpPr>
        <p:grpSpPr>
          <a:xfrm rot="0">
            <a:off x="6730709" y="7216397"/>
            <a:ext cx="373607" cy="373607"/>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38100" cap="sq">
              <a:solidFill>
                <a:srgbClr val="00569E"/>
              </a:solidFill>
              <a:prstDash val="solid"/>
              <a:miter/>
            </a:ln>
          </p:spPr>
        </p:sp>
        <p:sp>
          <p:nvSpPr>
            <p:cNvPr name="TextBox 16" id="16"/>
            <p:cNvSpPr txBox="true"/>
            <p:nvPr/>
          </p:nvSpPr>
          <p:spPr>
            <a:xfrm>
              <a:off x="76200" y="28575"/>
              <a:ext cx="660400" cy="708025"/>
            </a:xfrm>
            <a:prstGeom prst="rect">
              <a:avLst/>
            </a:prstGeom>
          </p:spPr>
          <p:txBody>
            <a:bodyPr anchor="ctr" rtlCol="false" tIns="0" lIns="0" bIns="0" rIns="0"/>
            <a:lstStyle/>
            <a:p>
              <a:pPr algn="ctr">
                <a:lnSpc>
                  <a:spcPts val="3640"/>
                </a:lnSpc>
              </a:pPr>
            </a:p>
          </p:txBody>
        </p:sp>
      </p:grpSp>
      <p:grpSp>
        <p:nvGrpSpPr>
          <p:cNvPr name="Group 17" id="17"/>
          <p:cNvGrpSpPr/>
          <p:nvPr/>
        </p:nvGrpSpPr>
        <p:grpSpPr>
          <a:xfrm rot="0">
            <a:off x="7045691" y="5597931"/>
            <a:ext cx="373607" cy="373607"/>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38100" cap="sq">
              <a:solidFill>
                <a:srgbClr val="00569E"/>
              </a:solidFill>
              <a:prstDash val="solid"/>
              <a:miter/>
            </a:ln>
          </p:spPr>
        </p:sp>
        <p:sp>
          <p:nvSpPr>
            <p:cNvPr name="TextBox 19" id="19"/>
            <p:cNvSpPr txBox="true"/>
            <p:nvPr/>
          </p:nvSpPr>
          <p:spPr>
            <a:xfrm>
              <a:off x="76200" y="28575"/>
              <a:ext cx="660400" cy="708025"/>
            </a:xfrm>
            <a:prstGeom prst="rect">
              <a:avLst/>
            </a:prstGeom>
          </p:spPr>
          <p:txBody>
            <a:bodyPr anchor="ctr" rtlCol="false" tIns="0" lIns="0" bIns="0" rIns="0"/>
            <a:lstStyle/>
            <a:p>
              <a:pPr algn="ctr">
                <a:lnSpc>
                  <a:spcPts val="3640"/>
                </a:lnSpc>
              </a:pPr>
            </a:p>
          </p:txBody>
        </p:sp>
      </p:grpSp>
      <p:sp>
        <p:nvSpPr>
          <p:cNvPr name="TextBox 20" id="20"/>
          <p:cNvSpPr txBox="true"/>
          <p:nvPr/>
        </p:nvSpPr>
        <p:spPr>
          <a:xfrm rot="0">
            <a:off x="8086048" y="3108492"/>
            <a:ext cx="9173252" cy="3974765"/>
          </a:xfrm>
          <a:prstGeom prst="rect">
            <a:avLst/>
          </a:prstGeom>
        </p:spPr>
        <p:txBody>
          <a:bodyPr anchor="t" rtlCol="false" tIns="0" lIns="0" bIns="0" rIns="0">
            <a:spAutoFit/>
          </a:bodyPr>
          <a:lstStyle/>
          <a:p>
            <a:pPr algn="l">
              <a:lnSpc>
                <a:spcPts val="3499"/>
              </a:lnSpc>
            </a:pPr>
            <a:r>
              <a:rPr lang="en-US" sz="2499">
                <a:solidFill>
                  <a:srgbClr val="051D40"/>
                </a:solidFill>
                <a:latin typeface="Times New Roman Bold"/>
                <a:ea typeface="Times New Roman Bold"/>
                <a:cs typeface="Times New Roman Bold"/>
                <a:sym typeface="Times New Roman Bold"/>
              </a:rPr>
              <a:t>Case Study 1 (Job Data):</a:t>
            </a:r>
          </a:p>
          <a:p>
            <a:pPr algn="l">
              <a:lnSpc>
                <a:spcPts val="3499"/>
              </a:lnSpc>
            </a:pPr>
            <a:r>
              <a:rPr lang="en-US" sz="2499">
                <a:solidFill>
                  <a:srgbClr val="051D40"/>
                </a:solidFill>
                <a:latin typeface="Times New Roman Bold"/>
                <a:ea typeface="Times New Roman Bold"/>
                <a:cs typeface="Times New Roman Bold"/>
                <a:sym typeface="Times New Roman Bold"/>
              </a:rPr>
              <a:t>• </a:t>
            </a:r>
            <a:r>
              <a:rPr lang="en-US" sz="2499">
                <a:solidFill>
                  <a:srgbClr val="051D40"/>
                </a:solidFill>
                <a:latin typeface="Times New Roman"/>
                <a:ea typeface="Times New Roman"/>
                <a:cs typeface="Times New Roman"/>
                <a:sym typeface="Times New Roman"/>
              </a:rPr>
              <a:t>The number of distinct jobs reviewed per hour per day for November 2020 is 83%.</a:t>
            </a:r>
          </a:p>
          <a:p>
            <a:pPr algn="l">
              <a:lnSpc>
                <a:spcPts val="3499"/>
              </a:lnSpc>
            </a:pPr>
            <a:r>
              <a:rPr lang="en-US" sz="2499">
                <a:solidFill>
                  <a:srgbClr val="051D40"/>
                </a:solidFill>
                <a:latin typeface="Times New Roman"/>
                <a:ea typeface="Times New Roman"/>
                <a:cs typeface="Times New Roman"/>
                <a:sym typeface="Times New Roman"/>
              </a:rPr>
              <a:t>• We used the 7-day rolling average of throughput as it gives the average for all the days right from day 1 to day 7 whereas, daily metric gives the average for only that particular day itself.</a:t>
            </a:r>
          </a:p>
          <a:p>
            <a:pPr algn="l">
              <a:lnSpc>
                <a:spcPts val="3499"/>
              </a:lnSpc>
            </a:pPr>
            <a:r>
              <a:rPr lang="en-US" sz="2499">
                <a:solidFill>
                  <a:srgbClr val="051D40"/>
                </a:solidFill>
                <a:latin typeface="Times New Roman"/>
                <a:ea typeface="Times New Roman"/>
                <a:cs typeface="Times New Roman"/>
                <a:sym typeface="Times New Roman"/>
              </a:rPr>
              <a:t>• The percentage share of Persian language is the most (37.5%).</a:t>
            </a:r>
          </a:p>
          <a:p>
            <a:pPr algn="l">
              <a:lnSpc>
                <a:spcPts val="3499"/>
              </a:lnSpc>
            </a:pPr>
            <a:r>
              <a:rPr lang="en-US" sz="2499">
                <a:solidFill>
                  <a:srgbClr val="051D40"/>
                </a:solidFill>
                <a:latin typeface="Times New Roman"/>
                <a:ea typeface="Times New Roman"/>
                <a:cs typeface="Times New Roman"/>
                <a:sym typeface="Times New Roman"/>
              </a:rPr>
              <a:t>• There are two duplicate rows if we partition the data by job_id. But if we look the overall columns, all the rows are unique.</a:t>
            </a:r>
          </a:p>
        </p:txBody>
      </p:sp>
      <p:sp>
        <p:nvSpPr>
          <p:cNvPr name="TextBox 21" id="21"/>
          <p:cNvSpPr txBox="true"/>
          <p:nvPr/>
        </p:nvSpPr>
        <p:spPr>
          <a:xfrm rot="0">
            <a:off x="1028700" y="4465258"/>
            <a:ext cx="6486181" cy="890681"/>
          </a:xfrm>
          <a:prstGeom prst="rect">
            <a:avLst/>
          </a:prstGeom>
        </p:spPr>
        <p:txBody>
          <a:bodyPr anchor="t" rtlCol="false" tIns="0" lIns="0" bIns="0" rIns="0">
            <a:spAutoFit/>
          </a:bodyPr>
          <a:lstStyle/>
          <a:p>
            <a:pPr algn="l" marL="0" indent="0" lvl="0">
              <a:lnSpc>
                <a:spcPts val="6553"/>
              </a:lnSpc>
              <a:spcBef>
                <a:spcPct val="0"/>
              </a:spcBef>
            </a:pPr>
            <a:r>
              <a:rPr lang="en-US" sz="4680">
                <a:solidFill>
                  <a:srgbClr val="FDFDFD"/>
                </a:solidFill>
                <a:latin typeface="Times New Roman Bold"/>
                <a:ea typeface="Times New Roman Bold"/>
                <a:cs typeface="Times New Roman Bold"/>
                <a:sym typeface="Times New Roman Bold"/>
              </a:rPr>
              <a:t>Insights:</a:t>
            </a:r>
          </a:p>
        </p:txBody>
      </p:sp>
    </p:spTree>
  </p:cSld>
  <p:clrMapOvr>
    <a:masterClrMapping/>
  </p:clrMapOvr>
</p:sld>
</file>

<file path=ppt/slides/slide15.xml><?xml version="1.0" encoding="utf-8"?>
<p:sld xmlns:p="http://schemas.openxmlformats.org/presentationml/2006/main" xmlns:a="http://schemas.openxmlformats.org/drawingml/2006/main">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7922514" y="-2630668"/>
            <a:ext cx="15178802" cy="15178802"/>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38100" cap="sq">
              <a:solidFill>
                <a:srgbClr val="145DA0"/>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7503865" y="-1939873"/>
            <a:ext cx="13881919" cy="13881919"/>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6730709" y="2679253"/>
            <a:ext cx="373607" cy="373607"/>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38100" cap="sq">
              <a:solidFill>
                <a:srgbClr val="00569E"/>
              </a:solidFill>
              <a:prstDash val="solid"/>
              <a:miter/>
            </a:ln>
          </p:spPr>
        </p:sp>
        <p:sp>
          <p:nvSpPr>
            <p:cNvPr name="TextBox 10" id="10"/>
            <p:cNvSpPr txBox="true"/>
            <p:nvPr/>
          </p:nvSpPr>
          <p:spPr>
            <a:xfrm>
              <a:off x="76200" y="28575"/>
              <a:ext cx="660400" cy="708025"/>
            </a:xfrm>
            <a:prstGeom prst="rect">
              <a:avLst/>
            </a:prstGeom>
          </p:spPr>
          <p:txBody>
            <a:bodyPr anchor="ctr" rtlCol="false" tIns="0" lIns="0" bIns="0" rIns="0"/>
            <a:lstStyle/>
            <a:p>
              <a:pPr algn="ctr">
                <a:lnSpc>
                  <a:spcPts val="3640"/>
                </a:lnSpc>
              </a:pPr>
            </a:p>
          </p:txBody>
        </p:sp>
      </p:grpSp>
      <p:grpSp>
        <p:nvGrpSpPr>
          <p:cNvPr name="Group 11" id="11"/>
          <p:cNvGrpSpPr/>
          <p:nvPr/>
        </p:nvGrpSpPr>
        <p:grpSpPr>
          <a:xfrm rot="0">
            <a:off x="7045691" y="4272626"/>
            <a:ext cx="373607" cy="373607"/>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38100" cap="sq">
              <a:solidFill>
                <a:srgbClr val="00569E"/>
              </a:solidFill>
              <a:prstDash val="solid"/>
              <a:miter/>
            </a:ln>
          </p:spPr>
        </p:sp>
        <p:sp>
          <p:nvSpPr>
            <p:cNvPr name="TextBox 13" id="13"/>
            <p:cNvSpPr txBox="true"/>
            <p:nvPr/>
          </p:nvSpPr>
          <p:spPr>
            <a:xfrm>
              <a:off x="76200" y="28575"/>
              <a:ext cx="660400" cy="708025"/>
            </a:xfrm>
            <a:prstGeom prst="rect">
              <a:avLst/>
            </a:prstGeom>
          </p:spPr>
          <p:txBody>
            <a:bodyPr anchor="ctr" rtlCol="false" tIns="0" lIns="0" bIns="0" rIns="0"/>
            <a:lstStyle/>
            <a:p>
              <a:pPr algn="ctr">
                <a:lnSpc>
                  <a:spcPts val="3640"/>
                </a:lnSpc>
              </a:pPr>
            </a:p>
          </p:txBody>
        </p:sp>
      </p:grpSp>
      <p:grpSp>
        <p:nvGrpSpPr>
          <p:cNvPr name="Group 14" id="14"/>
          <p:cNvGrpSpPr/>
          <p:nvPr/>
        </p:nvGrpSpPr>
        <p:grpSpPr>
          <a:xfrm rot="0">
            <a:off x="6730709" y="7216397"/>
            <a:ext cx="373607" cy="373607"/>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38100" cap="sq">
              <a:solidFill>
                <a:srgbClr val="00569E"/>
              </a:solidFill>
              <a:prstDash val="solid"/>
              <a:miter/>
            </a:ln>
          </p:spPr>
        </p:sp>
        <p:sp>
          <p:nvSpPr>
            <p:cNvPr name="TextBox 16" id="16"/>
            <p:cNvSpPr txBox="true"/>
            <p:nvPr/>
          </p:nvSpPr>
          <p:spPr>
            <a:xfrm>
              <a:off x="76200" y="28575"/>
              <a:ext cx="660400" cy="708025"/>
            </a:xfrm>
            <a:prstGeom prst="rect">
              <a:avLst/>
            </a:prstGeom>
          </p:spPr>
          <p:txBody>
            <a:bodyPr anchor="ctr" rtlCol="false" tIns="0" lIns="0" bIns="0" rIns="0"/>
            <a:lstStyle/>
            <a:p>
              <a:pPr algn="ctr">
                <a:lnSpc>
                  <a:spcPts val="3640"/>
                </a:lnSpc>
              </a:pPr>
            </a:p>
          </p:txBody>
        </p:sp>
      </p:grpSp>
      <p:grpSp>
        <p:nvGrpSpPr>
          <p:cNvPr name="Group 17" id="17"/>
          <p:cNvGrpSpPr/>
          <p:nvPr/>
        </p:nvGrpSpPr>
        <p:grpSpPr>
          <a:xfrm rot="0">
            <a:off x="7045691" y="5597931"/>
            <a:ext cx="373607" cy="373607"/>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38100" cap="sq">
              <a:solidFill>
                <a:srgbClr val="00569E"/>
              </a:solidFill>
              <a:prstDash val="solid"/>
              <a:miter/>
            </a:ln>
          </p:spPr>
        </p:sp>
        <p:sp>
          <p:nvSpPr>
            <p:cNvPr name="TextBox 19" id="19"/>
            <p:cNvSpPr txBox="true"/>
            <p:nvPr/>
          </p:nvSpPr>
          <p:spPr>
            <a:xfrm>
              <a:off x="76200" y="28575"/>
              <a:ext cx="660400" cy="708025"/>
            </a:xfrm>
            <a:prstGeom prst="rect">
              <a:avLst/>
            </a:prstGeom>
          </p:spPr>
          <p:txBody>
            <a:bodyPr anchor="ctr" rtlCol="false" tIns="0" lIns="0" bIns="0" rIns="0"/>
            <a:lstStyle/>
            <a:p>
              <a:pPr algn="ctr">
                <a:lnSpc>
                  <a:spcPts val="3640"/>
                </a:lnSpc>
              </a:pPr>
            </a:p>
          </p:txBody>
        </p:sp>
      </p:grpSp>
      <p:sp>
        <p:nvSpPr>
          <p:cNvPr name="TextBox 20" id="20"/>
          <p:cNvSpPr txBox="true"/>
          <p:nvPr/>
        </p:nvSpPr>
        <p:spPr>
          <a:xfrm rot="0">
            <a:off x="8086048" y="2451323"/>
            <a:ext cx="9173252" cy="5289104"/>
          </a:xfrm>
          <a:prstGeom prst="rect">
            <a:avLst/>
          </a:prstGeom>
        </p:spPr>
        <p:txBody>
          <a:bodyPr anchor="t" rtlCol="false" tIns="0" lIns="0" bIns="0" rIns="0">
            <a:spAutoFit/>
          </a:bodyPr>
          <a:lstStyle/>
          <a:p>
            <a:pPr algn="l">
              <a:lnSpc>
                <a:spcPts val="3499"/>
              </a:lnSpc>
            </a:pPr>
            <a:r>
              <a:rPr lang="en-US" sz="2499">
                <a:solidFill>
                  <a:srgbClr val="051D40"/>
                </a:solidFill>
                <a:latin typeface="Times New Roman Bold"/>
                <a:ea typeface="Times New Roman Bold"/>
                <a:cs typeface="Times New Roman Bold"/>
                <a:sym typeface="Times New Roman Bold"/>
              </a:rPr>
              <a:t>Case Study 2 (Investigating metric spike):</a:t>
            </a:r>
          </a:p>
          <a:p>
            <a:pPr algn="l">
              <a:lnSpc>
                <a:spcPts val="3499"/>
              </a:lnSpc>
            </a:pPr>
            <a:r>
              <a:rPr lang="en-US" sz="2499">
                <a:solidFill>
                  <a:srgbClr val="051D40"/>
                </a:solidFill>
                <a:latin typeface="Times New Roman Bold"/>
                <a:ea typeface="Times New Roman Bold"/>
                <a:cs typeface="Times New Roman Bold"/>
                <a:sym typeface="Times New Roman Bold"/>
              </a:rPr>
              <a:t>• </a:t>
            </a:r>
            <a:r>
              <a:rPr lang="en-US" sz="2499">
                <a:solidFill>
                  <a:srgbClr val="051D40"/>
                </a:solidFill>
                <a:latin typeface="Times New Roman"/>
                <a:ea typeface="Times New Roman"/>
                <a:cs typeface="Times New Roman"/>
                <a:sym typeface="Times New Roman"/>
              </a:rPr>
              <a:t>The weekly user engagement increased from week 18th to week 31st and then started declining from then onwards. This means that some of the users do not find much quality in the product/service in the last of the weeks.</a:t>
            </a:r>
          </a:p>
          <a:p>
            <a:pPr algn="l">
              <a:lnSpc>
                <a:spcPts val="3499"/>
              </a:lnSpc>
            </a:pPr>
            <a:r>
              <a:rPr lang="en-US" sz="2499">
                <a:solidFill>
                  <a:srgbClr val="051D40"/>
                </a:solidFill>
                <a:latin typeface="Times New Roman"/>
                <a:ea typeface="Times New Roman"/>
                <a:cs typeface="Times New Roman"/>
                <a:sym typeface="Times New Roman"/>
              </a:rPr>
              <a:t>• There are in total 9381 active users from 1st week of 2013 to the 35th week of 2014.</a:t>
            </a:r>
          </a:p>
          <a:p>
            <a:pPr algn="l">
              <a:lnSpc>
                <a:spcPts val="3499"/>
              </a:lnSpc>
            </a:pPr>
            <a:r>
              <a:rPr lang="en-US" sz="2499">
                <a:solidFill>
                  <a:srgbClr val="051D40"/>
                </a:solidFill>
                <a:latin typeface="Times New Roman"/>
                <a:ea typeface="Times New Roman"/>
                <a:cs typeface="Times New Roman"/>
                <a:sym typeface="Times New Roman"/>
              </a:rPr>
              <a:t>• The overall count of weekly engagement per device used is the most for MacBook users and iPhone users.</a:t>
            </a:r>
          </a:p>
          <a:p>
            <a:pPr algn="l">
              <a:lnSpc>
                <a:spcPts val="3499"/>
              </a:lnSpc>
            </a:pPr>
            <a:r>
              <a:rPr lang="en-US" sz="2499">
                <a:solidFill>
                  <a:srgbClr val="051D40"/>
                </a:solidFill>
                <a:latin typeface="Times New Roman"/>
                <a:ea typeface="Times New Roman"/>
                <a:cs typeface="Times New Roman"/>
                <a:sym typeface="Times New Roman"/>
              </a:rPr>
              <a:t>• The email opening rate is around 34% and email clicking rate is around 15%. The users are engaging with the email service which is good for the company to expand.</a:t>
            </a:r>
          </a:p>
        </p:txBody>
      </p:sp>
      <p:sp>
        <p:nvSpPr>
          <p:cNvPr name="TextBox 21" id="21"/>
          <p:cNvSpPr txBox="true"/>
          <p:nvPr/>
        </p:nvSpPr>
        <p:spPr>
          <a:xfrm rot="0">
            <a:off x="1028700" y="4465258"/>
            <a:ext cx="6486181" cy="890681"/>
          </a:xfrm>
          <a:prstGeom prst="rect">
            <a:avLst/>
          </a:prstGeom>
        </p:spPr>
        <p:txBody>
          <a:bodyPr anchor="t" rtlCol="false" tIns="0" lIns="0" bIns="0" rIns="0">
            <a:spAutoFit/>
          </a:bodyPr>
          <a:lstStyle/>
          <a:p>
            <a:pPr algn="l" marL="0" indent="0" lvl="0">
              <a:lnSpc>
                <a:spcPts val="6553"/>
              </a:lnSpc>
              <a:spcBef>
                <a:spcPct val="0"/>
              </a:spcBef>
            </a:pPr>
            <a:r>
              <a:rPr lang="en-US" sz="4680">
                <a:solidFill>
                  <a:srgbClr val="FDFDFD"/>
                </a:solidFill>
                <a:latin typeface="Times New Roman Bold"/>
                <a:ea typeface="Times New Roman Bold"/>
                <a:cs typeface="Times New Roman Bold"/>
                <a:sym typeface="Times New Roman Bold"/>
              </a:rPr>
              <a:t>Insights:</a:t>
            </a:r>
          </a:p>
        </p:txBody>
      </p:sp>
    </p:spTree>
  </p:cSld>
  <p:clrMapOvr>
    <a:masterClrMapping/>
  </p:clrMapOvr>
</p:sld>
</file>

<file path=ppt/slides/slide16.xml><?xml version="1.0" encoding="utf-8"?>
<p:sld xmlns:p="http://schemas.openxmlformats.org/presentationml/2006/main" xmlns:a="http://schemas.openxmlformats.org/drawingml/2006/main">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6656283" y="-2445901"/>
            <a:ext cx="15178802" cy="15178802"/>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38100" cap="sq">
              <a:solidFill>
                <a:srgbClr val="145DA0"/>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6263278" y="-1797460"/>
            <a:ext cx="13881919" cy="13881919"/>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7905455" y="2656032"/>
            <a:ext cx="373607" cy="373607"/>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38100" cap="sq">
              <a:solidFill>
                <a:srgbClr val="00569E"/>
              </a:solidFill>
              <a:prstDash val="solid"/>
              <a:miter/>
            </a:ln>
          </p:spPr>
        </p:sp>
        <p:sp>
          <p:nvSpPr>
            <p:cNvPr name="TextBox 10" id="10"/>
            <p:cNvSpPr txBox="true"/>
            <p:nvPr/>
          </p:nvSpPr>
          <p:spPr>
            <a:xfrm>
              <a:off x="76200" y="28575"/>
              <a:ext cx="660400" cy="708025"/>
            </a:xfrm>
            <a:prstGeom prst="rect">
              <a:avLst/>
            </a:prstGeom>
          </p:spPr>
          <p:txBody>
            <a:bodyPr anchor="ctr" rtlCol="false" tIns="0" lIns="0" bIns="0" rIns="0"/>
            <a:lstStyle/>
            <a:p>
              <a:pPr algn="ctr">
                <a:lnSpc>
                  <a:spcPts val="3640"/>
                </a:lnSpc>
              </a:pPr>
            </a:p>
          </p:txBody>
        </p:sp>
      </p:grpSp>
      <p:grpSp>
        <p:nvGrpSpPr>
          <p:cNvPr name="Group 11" id="11"/>
          <p:cNvGrpSpPr/>
          <p:nvPr/>
        </p:nvGrpSpPr>
        <p:grpSpPr>
          <a:xfrm rot="0">
            <a:off x="8315313" y="4180490"/>
            <a:ext cx="373607" cy="373607"/>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38100" cap="sq">
              <a:solidFill>
                <a:srgbClr val="00569E"/>
              </a:solidFill>
              <a:prstDash val="solid"/>
              <a:miter/>
            </a:ln>
          </p:spPr>
        </p:sp>
        <p:sp>
          <p:nvSpPr>
            <p:cNvPr name="TextBox 13" id="13"/>
            <p:cNvSpPr txBox="true"/>
            <p:nvPr/>
          </p:nvSpPr>
          <p:spPr>
            <a:xfrm>
              <a:off x="76200" y="28575"/>
              <a:ext cx="660400" cy="708025"/>
            </a:xfrm>
            <a:prstGeom prst="rect">
              <a:avLst/>
            </a:prstGeom>
          </p:spPr>
          <p:txBody>
            <a:bodyPr anchor="ctr" rtlCol="false" tIns="0" lIns="0" bIns="0" rIns="0"/>
            <a:lstStyle/>
            <a:p>
              <a:pPr algn="ctr">
                <a:lnSpc>
                  <a:spcPts val="3640"/>
                </a:lnSpc>
              </a:pPr>
            </a:p>
          </p:txBody>
        </p:sp>
      </p:grpSp>
      <p:grpSp>
        <p:nvGrpSpPr>
          <p:cNvPr name="Group 14" id="14"/>
          <p:cNvGrpSpPr/>
          <p:nvPr/>
        </p:nvGrpSpPr>
        <p:grpSpPr>
          <a:xfrm rot="0">
            <a:off x="7944228" y="7402839"/>
            <a:ext cx="373607" cy="373607"/>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38100" cap="sq">
              <a:solidFill>
                <a:srgbClr val="00569E"/>
              </a:solidFill>
              <a:prstDash val="solid"/>
              <a:miter/>
            </a:ln>
          </p:spPr>
        </p:sp>
        <p:sp>
          <p:nvSpPr>
            <p:cNvPr name="TextBox 16" id="16"/>
            <p:cNvSpPr txBox="true"/>
            <p:nvPr/>
          </p:nvSpPr>
          <p:spPr>
            <a:xfrm>
              <a:off x="76200" y="28575"/>
              <a:ext cx="660400" cy="708025"/>
            </a:xfrm>
            <a:prstGeom prst="rect">
              <a:avLst/>
            </a:prstGeom>
          </p:spPr>
          <p:txBody>
            <a:bodyPr anchor="ctr" rtlCol="false" tIns="0" lIns="0" bIns="0" rIns="0"/>
            <a:lstStyle/>
            <a:p>
              <a:pPr algn="ctr">
                <a:lnSpc>
                  <a:spcPts val="3640"/>
                </a:lnSpc>
              </a:pPr>
            </a:p>
          </p:txBody>
        </p:sp>
      </p:grpSp>
      <p:grpSp>
        <p:nvGrpSpPr>
          <p:cNvPr name="Group 17" id="17"/>
          <p:cNvGrpSpPr/>
          <p:nvPr/>
        </p:nvGrpSpPr>
        <p:grpSpPr>
          <a:xfrm rot="0">
            <a:off x="8309460" y="5760481"/>
            <a:ext cx="373607" cy="373607"/>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38100" cap="sq">
              <a:solidFill>
                <a:srgbClr val="00569E"/>
              </a:solidFill>
              <a:prstDash val="solid"/>
              <a:miter/>
            </a:ln>
          </p:spPr>
        </p:sp>
        <p:sp>
          <p:nvSpPr>
            <p:cNvPr name="TextBox 19" id="19"/>
            <p:cNvSpPr txBox="true"/>
            <p:nvPr/>
          </p:nvSpPr>
          <p:spPr>
            <a:xfrm>
              <a:off x="76200" y="28575"/>
              <a:ext cx="660400" cy="708025"/>
            </a:xfrm>
            <a:prstGeom prst="rect">
              <a:avLst/>
            </a:prstGeom>
          </p:spPr>
          <p:txBody>
            <a:bodyPr anchor="ctr" rtlCol="false" tIns="0" lIns="0" bIns="0" rIns="0"/>
            <a:lstStyle/>
            <a:p>
              <a:pPr algn="ctr">
                <a:lnSpc>
                  <a:spcPts val="3640"/>
                </a:lnSpc>
              </a:pPr>
            </a:p>
          </p:txBody>
        </p:sp>
      </p:grpSp>
      <p:sp>
        <p:nvSpPr>
          <p:cNvPr name="TextBox 20" id="20"/>
          <p:cNvSpPr txBox="true"/>
          <p:nvPr/>
        </p:nvSpPr>
        <p:spPr>
          <a:xfrm rot="0">
            <a:off x="9584270" y="2670380"/>
            <a:ext cx="7577091" cy="4850991"/>
          </a:xfrm>
          <a:prstGeom prst="rect">
            <a:avLst/>
          </a:prstGeom>
        </p:spPr>
        <p:txBody>
          <a:bodyPr anchor="t" rtlCol="false" tIns="0" lIns="0" bIns="0" rIns="0">
            <a:spAutoFit/>
          </a:bodyPr>
          <a:lstStyle/>
          <a:p>
            <a:pPr algn="l">
              <a:lnSpc>
                <a:spcPts val="3499"/>
              </a:lnSpc>
            </a:pPr>
            <a:r>
              <a:rPr lang="en-US" sz="2499">
                <a:solidFill>
                  <a:srgbClr val="051D40"/>
                </a:solidFill>
                <a:latin typeface="Times New Roman"/>
                <a:ea typeface="Times New Roman"/>
                <a:cs typeface="Times New Roman"/>
                <a:sym typeface="Times New Roman"/>
              </a:rPr>
              <a:t>In this project, I learned how to apply advanced SQL concepts like Windows Functions, etc. I understood how the real-world industry works. It helped me in mastering my SQL concepts. I learned how to ask the right questions given the circumstances. From the given data and questions, which columns to consider and how to find the valuable insights which help the business to grow. I learned how the company find different areas related to the company to improve it further. I got to know about investigating metric spike (why there is a boom and why there is a dip).</a:t>
            </a:r>
          </a:p>
        </p:txBody>
      </p:sp>
      <p:sp>
        <p:nvSpPr>
          <p:cNvPr name="TextBox 21" id="21"/>
          <p:cNvSpPr txBox="true"/>
          <p:nvPr/>
        </p:nvSpPr>
        <p:spPr>
          <a:xfrm rot="0">
            <a:off x="933118" y="4465258"/>
            <a:ext cx="6486181" cy="890681"/>
          </a:xfrm>
          <a:prstGeom prst="rect">
            <a:avLst/>
          </a:prstGeom>
        </p:spPr>
        <p:txBody>
          <a:bodyPr anchor="t" rtlCol="false" tIns="0" lIns="0" bIns="0" rIns="0">
            <a:spAutoFit/>
          </a:bodyPr>
          <a:lstStyle/>
          <a:p>
            <a:pPr algn="l" marL="0" indent="0" lvl="0">
              <a:lnSpc>
                <a:spcPts val="6553"/>
              </a:lnSpc>
              <a:spcBef>
                <a:spcPct val="0"/>
              </a:spcBef>
            </a:pPr>
            <a:r>
              <a:rPr lang="en-US" sz="4680">
                <a:solidFill>
                  <a:srgbClr val="FDFDFD"/>
                </a:solidFill>
                <a:latin typeface="Times New Roman Bold"/>
                <a:ea typeface="Times New Roman Bold"/>
                <a:cs typeface="Times New Roman Bold"/>
                <a:sym typeface="Times New Roman Bold"/>
              </a:rPr>
              <a:t>Result: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DAGN3BEK6iA</dc:identifier>
  <dcterms:modified xsi:type="dcterms:W3CDTF">2011-08-01T06:04:30Z</dcterms:modified>
  <cp:revision>1</cp:revision>
  <dc:title>Operation and  Metric Analytics</dc:title>
</cp:coreProperties>
</file>